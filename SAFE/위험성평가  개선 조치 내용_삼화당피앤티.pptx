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81" r:id="rId2"/>
    <p:sldId id="585" r:id="rId3"/>
    <p:sldId id="586" r:id="rId4"/>
    <p:sldId id="587" r:id="rId5"/>
    <p:sldId id="590" r:id="rId6"/>
    <p:sldId id="591" r:id="rId7"/>
    <p:sldId id="592" r:id="rId8"/>
    <p:sldId id="594" r:id="rId9"/>
    <p:sldId id="595" r:id="rId10"/>
    <p:sldId id="596" r:id="rId11"/>
    <p:sldId id="597" r:id="rId12"/>
    <p:sldId id="598" r:id="rId13"/>
    <p:sldId id="599" r:id="rId14"/>
    <p:sldId id="588" r:id="rId15"/>
    <p:sldId id="582" r:id="rId16"/>
    <p:sldId id="583" r:id="rId17"/>
    <p:sldId id="584" r:id="rId18"/>
    <p:sldId id="589" r:id="rId19"/>
    <p:sldId id="593" r:id="rId20"/>
  </p:sldIdLst>
  <p:sldSz cx="9144000" cy="6858000" type="screen4x3"/>
  <p:notesSz cx="6858000" cy="99456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55008A"/>
    <a:srgbClr val="FFFFFF"/>
    <a:srgbClr val="FC8770"/>
    <a:srgbClr val="DBE189"/>
    <a:srgbClr val="D1E010"/>
    <a:srgbClr val="3333FF"/>
    <a:srgbClr val="FFFFCC"/>
    <a:srgbClr val="680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4662" autoAdjust="0"/>
  </p:normalViewPr>
  <p:slideViewPr>
    <p:cSldViewPr>
      <p:cViewPr varScale="1">
        <p:scale>
          <a:sx n="97" d="100"/>
          <a:sy n="97" d="100"/>
        </p:scale>
        <p:origin x="15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84"/>
      </p:cViewPr>
      <p:guideLst>
        <p:guide orient="horz" pos="2880"/>
        <p:guide pos="2160"/>
        <p:guide orient="horz" pos="31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3EDE1AD-E38A-6D3B-04C2-1125E1724C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30D0F9-94AF-6DCC-BC81-CF0F08B417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6F57F-E1F6-4A43-B59B-3309F5A1F9C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A034CF-5F90-89C0-BB97-11DD5C1917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A3B204-DF40-5747-FDD3-A00A0CDF66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F96C3-AFC5-4616-8D56-74BE33C59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60117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7D612C-AC28-4945-82EB-9758867C4D32}" type="datetimeFigureOut">
              <a:rPr lang="ko-KR" altLang="en-US"/>
              <a:pPr>
                <a:defRPr/>
              </a:pPr>
              <a:t>2026-02-19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2C4A88C-FB28-48A2-8480-2ADFCF1E2E7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0938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759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A0FBB-418C-45FD-EBD0-27DBA080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43B11-8D1D-54D4-9BD9-8FA545774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410680-A094-79F7-064A-28CB8639F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6E4679-439C-27DD-70EC-88AF22BDDF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DCB7BC-2C74-2DB5-0315-5826A4D4C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68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2A55-CC9B-C3B1-1C89-BE62FF9B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ABAE69-14EF-756E-8647-1A640F761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F35D72-70BE-D009-F726-EB5822FF9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CFC415-8E7D-A2C9-6EA8-806B50F431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9E9847-2F2E-6DDB-4355-B3873816E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528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D633-F725-134D-5C49-3FBEF50D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A2A54-0FC7-8DBE-F08C-13021C360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FB4ACA-FFCB-ADEB-56A4-04468471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6B66F5-89EA-ACEE-B2BD-F5763BF09F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50693B-9DC8-D5F7-B05B-292752545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437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D633-F725-134D-5C49-3FBEF50D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A2A54-0FC7-8DBE-F08C-13021C360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FB4ACA-FFCB-ADEB-56A4-04468471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6B66F5-89EA-ACEE-B2BD-F5763BF09F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50693B-9DC8-D5F7-B05B-292752545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437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0E6F-2FA0-1ED3-4602-9EC0265C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35A8A2-64E1-AF9B-5989-F07EA1AAA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61C609-9C74-77D1-1936-052F07CB7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28E118-BFFD-865A-CAF9-23F03809C4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D312A2-A128-51C7-012D-E2D54CBB7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129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2C9E-E97E-0308-7D6D-BFD3B669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BD38BD-76BC-D458-0E66-93E9846F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F38DC1-2772-DBA4-85E3-B6F1FA62A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83DFE7-C6BE-C96D-C675-D9113218CB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7AD87B-1A2D-44B6-C47D-564B5973E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6094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23B7-7215-3451-C407-F6185957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7C4073-C7E4-701B-1477-95FAC1405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5A25A2-7076-84F3-2800-8348508AA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5CE6CD-EEB9-D96B-8497-651BED6503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7CF11C-2F80-989A-A1C3-871E610D0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225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170E-598F-15E7-DC0D-BC13ADA3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DC8EDB-DA01-6BEA-1C48-3CDC07BD4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E9DC37-F2A1-FCDF-17A8-6B828147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0B4089-D367-D23C-D8B7-2B85EF24E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2658E5-E466-8273-826E-0303A0333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31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4592-E82B-0AE9-1C6E-8FEB149B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261247-EDB7-8A23-41E2-824919E70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8C4FA4-2231-6174-B032-74E20065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64F8E2-F2D7-FC19-411B-4CA0106504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A98D6-7F22-6081-1039-FD6D87A3E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503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03BF-CB53-BCF3-6BEE-5CCF58515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085AF8-40C6-F3EF-D707-518541373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AA6DB7-EFBB-5BE1-43FD-1A3283D62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4D0E4F-4576-F1EA-6EA2-69085501AA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BEADFE-981D-D2DE-F2FD-BAA670A1D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C4A88C-FB28-48A2-8480-2ADFCF1E2E76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60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배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배경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Fileserver-pt\server-file2\2009 제작\삼성미래전략그룹_유재혁 과장\CI\삼성로고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231188" y="6500813"/>
            <a:ext cx="841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6"/>
          <p:cNvSpPr>
            <a:spLocks noChangeArrowheads="1"/>
          </p:cNvSpPr>
          <p:nvPr userDrawn="1"/>
        </p:nvSpPr>
        <p:spPr bwMode="auto">
          <a:xfrm>
            <a:off x="7918450" y="-11113"/>
            <a:ext cx="1233488" cy="2809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lIns="36000" tIns="36000" rIns="36000" bIns="36000" anchor="ctr" anchorCtr="1">
            <a:spAutoFit/>
          </a:bodyPr>
          <a:lstStyle/>
          <a:p>
            <a:pPr>
              <a:defRPr/>
            </a:pPr>
            <a:r>
              <a:rPr kumimoji="0" lang="en-US" altLang="ko-KR" sz="1200" b="1" dirty="0">
                <a:solidFill>
                  <a:srgbClr val="FF0000"/>
                </a:solidFill>
                <a:latin typeface="Arial" charset="0"/>
                <a:ea typeface="Dotum" pitchFamily="34" charset="-127"/>
                <a:cs typeface="Arial" charset="0"/>
              </a:rPr>
              <a:t>CONFIDENTIAL</a:t>
            </a:r>
          </a:p>
        </p:txBody>
      </p:sp>
      <p:sp>
        <p:nvSpPr>
          <p:cNvPr id="6" name="Rectangle 53"/>
          <p:cNvSpPr>
            <a:spLocks noChangeArrowheads="1"/>
          </p:cNvSpPr>
          <p:nvPr userDrawn="1"/>
        </p:nvSpPr>
        <p:spPr bwMode="auto">
          <a:xfrm>
            <a:off x="703263" y="592138"/>
            <a:ext cx="8440737" cy="69850"/>
          </a:xfrm>
          <a:prstGeom prst="rect">
            <a:avLst/>
          </a:prstGeom>
          <a:gradFill rotWithShape="1">
            <a:gsLst>
              <a:gs pos="0">
                <a:srgbClr val="1B4B7F">
                  <a:gamma/>
                  <a:shade val="46275"/>
                  <a:invGamma/>
                </a:srgbClr>
              </a:gs>
              <a:gs pos="100000">
                <a:srgbClr val="1B4B7F">
                  <a:alpha val="46001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defRPr/>
            </a:pPr>
            <a:r>
              <a:rPr lang="en-US" altLang="ko-KR" sz="2400">
                <a:solidFill>
                  <a:schemeClr val="bg1"/>
                </a:solidFill>
                <a:latin typeface="Arial" charset="0"/>
                <a:ea typeface="HY헤드라인M" pitchFamily="18" charset="-127"/>
              </a:rPr>
              <a:t>     </a:t>
            </a:r>
          </a:p>
        </p:txBody>
      </p:sp>
      <p:grpSp>
        <p:nvGrpSpPr>
          <p:cNvPr id="7" name="Group 54"/>
          <p:cNvGrpSpPr>
            <a:grpSpLocks/>
          </p:cNvGrpSpPr>
          <p:nvPr userDrawn="1"/>
        </p:nvGrpSpPr>
        <p:grpSpPr bwMode="auto">
          <a:xfrm>
            <a:off x="34925" y="492125"/>
            <a:ext cx="933450" cy="315913"/>
            <a:chOff x="521" y="3747"/>
            <a:chExt cx="635" cy="182"/>
          </a:xfrm>
        </p:grpSpPr>
        <p:sp>
          <p:nvSpPr>
            <p:cNvPr id="8" name="AutoShape 55"/>
            <p:cNvSpPr>
              <a:spLocks noChangeArrowheads="1"/>
            </p:cNvSpPr>
            <p:nvPr/>
          </p:nvSpPr>
          <p:spPr bwMode="auto">
            <a:xfrm>
              <a:off x="521" y="3747"/>
              <a:ext cx="635" cy="97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9" name="AutoShape 56"/>
            <p:cNvSpPr>
              <a:spLocks noChangeArrowheads="1"/>
            </p:cNvSpPr>
            <p:nvPr/>
          </p:nvSpPr>
          <p:spPr bwMode="auto">
            <a:xfrm rot="10800000">
              <a:off x="521" y="3838"/>
              <a:ext cx="635" cy="91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10" name="Rectangle 57"/>
          <p:cNvSpPr>
            <a:spLocks noChangeAspect="1" noChangeArrowheads="1"/>
          </p:cNvSpPr>
          <p:nvPr userDrawn="1"/>
        </p:nvSpPr>
        <p:spPr bwMode="auto">
          <a:xfrm rot="2689290">
            <a:off x="103188" y="231775"/>
            <a:ext cx="800100" cy="4730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1" name="Rectangle 58"/>
          <p:cNvSpPr>
            <a:spLocks noChangeArrowheads="1"/>
          </p:cNvSpPr>
          <p:nvPr userDrawn="1"/>
        </p:nvSpPr>
        <p:spPr bwMode="auto">
          <a:xfrm rot="2689290">
            <a:off x="139700" y="257175"/>
            <a:ext cx="727075" cy="417513"/>
          </a:xfrm>
          <a:prstGeom prst="rect">
            <a:avLst/>
          </a:prstGeom>
          <a:solidFill>
            <a:srgbClr val="1F579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defRPr/>
            </a:pPr>
            <a:endParaRPr lang="ko-KR" altLang="ko-KR" sz="180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양수\My Documents\My Pictures\템플릿 압축\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-3175"/>
            <a:ext cx="9148763" cy="686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\\Fileserver-pt\server-file2\2009 제작\삼성미래전략그룹_유재혁 과장\CI\삼성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86688" y="6000750"/>
            <a:ext cx="841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Documents and Settings\양수\My Documents\My Pictures\삼성IT 솔루션\image1-ML-1660a.png"/>
          <p:cNvPicPr>
            <a:picLocks noChangeAspect="1" noChangeArrowheads="1"/>
          </p:cNvPicPr>
          <p:nvPr userDrawn="1"/>
        </p:nvPicPr>
        <p:blipFill>
          <a:blip r:embed="rId4" cstate="print"/>
          <a:srcRect t="13158" r="1263" b="7895"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양수\My Documents\My Pictures\템플릿 압축\3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938" y="-6350"/>
            <a:ext cx="9151938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제목 1"/>
          <p:cNvSpPr txBox="1">
            <a:spLocks/>
          </p:cNvSpPr>
          <p:nvPr userDrawn="1"/>
        </p:nvSpPr>
        <p:spPr bwMode="auto">
          <a:xfrm>
            <a:off x="642938" y="2071688"/>
            <a:ext cx="2500312" cy="78581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latinLnBrk="0"/>
            <a:r>
              <a:rPr kumimoji="0" lang="en-US" altLang="ko-KR" sz="4400" b="1" dirty="0">
                <a:solidFill>
                  <a:srgbClr val="03529F"/>
                </a:solidFill>
                <a:latin typeface="Calibri" pitchFamily="34" charset="0"/>
                <a:ea typeface="돋움" pitchFamily="50" charset="-127"/>
              </a:rPr>
              <a:t>Contents</a:t>
            </a:r>
            <a:endParaRPr kumimoji="0" lang="ko-KR" altLang="en-US" sz="4400" b="1" dirty="0">
              <a:solidFill>
                <a:srgbClr val="03529F"/>
              </a:solidFill>
              <a:latin typeface="Calibri" pitchFamily="34" charset="0"/>
              <a:ea typeface="돋움" pitchFamily="50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양수\My Documents\My Pictures\삼성IT 솔루션\OP092sdf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0"/>
            <a:ext cx="457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그룹 6"/>
          <p:cNvGrpSpPr>
            <a:grpSpLocks/>
          </p:cNvGrpSpPr>
          <p:nvPr userDrawn="1"/>
        </p:nvGrpSpPr>
        <p:grpSpPr bwMode="auto">
          <a:xfrm>
            <a:off x="3133725" y="-28575"/>
            <a:ext cx="6010275" cy="6915150"/>
            <a:chOff x="3133725" y="-28575"/>
            <a:chExt cx="6010275" cy="6915150"/>
          </a:xfrm>
        </p:grpSpPr>
        <p:pic>
          <p:nvPicPr>
            <p:cNvPr id="4" name="Picture 2" descr="C:\Documents and Settings\양수\My Documents\My Pictures\템플릿 압축\4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33725" y="-28575"/>
              <a:ext cx="6010275" cy="691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2" descr="\\Fileserver-pt\server-file2\2009 제작\삼성미래전략그룹_유재혁 과장\CI\삼성로고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29058" y="5857892"/>
              <a:ext cx="841381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둥근 사각형 6"/>
          <p:cNvSpPr/>
          <p:nvPr userDrawn="1"/>
        </p:nvSpPr>
        <p:spPr>
          <a:xfrm rot="10800000" flipH="1">
            <a:off x="0" y="0"/>
            <a:ext cx="9144000" cy="785813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37000">
                <a:srgbClr val="03529F"/>
              </a:gs>
              <a:gs pos="100000">
                <a:srgbClr val="0199D1"/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Picture 2" descr="C:\Documents and Settings\양수\My Documents\My Pictures\템플릿 압축\sdw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5129213" y="0"/>
            <a:ext cx="40862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\\Fileserver-pt\server-file2\2009 제작\삼성미래전략그룹_유재혁 과장\CI\삼성로고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231188" y="6500813"/>
            <a:ext cx="841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84138" y="6600825"/>
            <a:ext cx="369887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72000" bIns="36000" anchor="ctr">
            <a:spAutoFit/>
          </a:bodyPr>
          <a:lstStyle/>
          <a:p>
            <a:pPr algn="ctr">
              <a:defRPr/>
            </a:pPr>
            <a:fld id="{621DEDAF-C821-4E9A-BFB3-AD0AA57407D0}" type="slidenum">
              <a:rPr lang="en-US" altLang="ko-KR" sz="1200">
                <a:latin typeface="Arial" pitchFamily="34" charset="0"/>
                <a:ea typeface="맑은 고딕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en-US" altLang="ko-KR" sz="12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142844" y="168275"/>
            <a:ext cx="9001155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/>
              <a:t>Insert Title (Font: Arial, 30 point Bold)</a:t>
            </a:r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42844" y="785794"/>
            <a:ext cx="9001155" cy="5715040"/>
          </a:xfrm>
          <a:prstGeom prst="rect">
            <a:avLst/>
          </a:prstGeom>
        </p:spPr>
        <p:txBody>
          <a:bodyPr/>
          <a:lstStyle>
            <a:lvl1pPr marL="93663" marR="0" indent="-93663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3529F"/>
              </a:buClr>
              <a:buSzPct val="80000"/>
              <a:buFontTx/>
              <a:buNone/>
              <a:tabLst/>
              <a:defRPr/>
            </a:lvl1pPr>
            <a:lvl2pPr marL="457200" marR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3529F"/>
              </a:buClr>
              <a:buSzTx/>
              <a:buFontTx/>
              <a:buChar char="-"/>
              <a:tabLst/>
              <a:defRPr/>
            </a:lvl2pPr>
            <a:lvl3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3529F"/>
              </a:buClr>
              <a:buSzTx/>
              <a:buFont typeface="Arial" charset="0"/>
              <a:buChar char="•"/>
              <a:tabLst/>
              <a:defRPr/>
            </a:lvl3pPr>
            <a:lvl4pPr marL="1371600" marR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3529F"/>
              </a:buClr>
              <a:buSzTx/>
              <a:buFontTx/>
              <a:buChar char="-"/>
              <a:tabLst/>
              <a:defRPr/>
            </a:lvl4pPr>
            <a:lvl5pPr marL="1828800" marR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3529F"/>
              </a:buClr>
              <a:buSzTx/>
              <a:buFont typeface="Arial" charset="0"/>
              <a:buChar char="•"/>
              <a:tabLst/>
              <a:defRPr/>
            </a:lvl5pPr>
          </a:lstStyle>
          <a:p>
            <a:r>
              <a:rPr lang="en-US" altLang="ko-KR" dirty="0"/>
              <a:t>Insert Sub Title (Font: Arial, 20point plain) Maintain position on page</a:t>
            </a:r>
            <a:endParaRPr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Insert text (Font: Arial, 16point plain) Maintain this position on page, </a:t>
            </a:r>
          </a:p>
          <a:p>
            <a:r>
              <a:rPr lang="en-US" altLang="ko-KR" dirty="0"/>
              <a:t>  highlight text in this blue</a:t>
            </a:r>
          </a:p>
          <a:p>
            <a:pPr lvl="1"/>
            <a:r>
              <a:rPr lang="en-US" altLang="ko-KR" dirty="0"/>
              <a:t>Insert text (Font: Arial, 14point plain)</a:t>
            </a:r>
          </a:p>
          <a:p>
            <a:pPr lvl="2"/>
            <a:r>
              <a:rPr lang="en-US" altLang="ko-KR" dirty="0"/>
              <a:t> Insert text (Font: Arial, 14point plain) </a:t>
            </a:r>
          </a:p>
          <a:p>
            <a:pPr lvl="3"/>
            <a:r>
              <a:rPr lang="en-US" altLang="ko-KR" dirty="0"/>
              <a:t>Insert text (Font: Arial, 12point plain)</a:t>
            </a:r>
          </a:p>
          <a:p>
            <a:pPr lvl="4"/>
            <a:r>
              <a:rPr lang="en-US" altLang="ko-KR" dirty="0"/>
              <a:t> Insert text (Font: Arial, 12point plain)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양수\My Documents\My Pictures\템플릿 압축\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0"/>
            <a:ext cx="9148763" cy="686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8"/>
          <p:cNvSpPr/>
          <p:nvPr userDrawn="1"/>
        </p:nvSpPr>
        <p:spPr bwMode="auto">
          <a:xfrm rot="5400000">
            <a:off x="6906419" y="2974182"/>
            <a:ext cx="184150" cy="36671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ko-KR" altLang="en-US" b="1" dirty="0">
              <a:solidFill>
                <a:srgbClr val="000000"/>
              </a:solidFill>
              <a:latin typeface="Arial" charset="0"/>
              <a:ea typeface="굴림" charset="-127"/>
            </a:endParaRPr>
          </a:p>
        </p:txBody>
      </p:sp>
      <p:sp>
        <p:nvSpPr>
          <p:cNvPr id="4" name="직사각형 10"/>
          <p:cNvSpPr>
            <a:spLocks noChangeArrowheads="1"/>
          </p:cNvSpPr>
          <p:nvPr userDrawn="1"/>
        </p:nvSpPr>
        <p:spPr bwMode="auto">
          <a:xfrm>
            <a:off x="2857500" y="3357563"/>
            <a:ext cx="30416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sz="5400" dirty="0">
                <a:solidFill>
                  <a:srgbClr val="17375E"/>
                </a:solidFill>
                <a:latin typeface="Arial" charset="0"/>
                <a:ea typeface="Dotum" pitchFamily="34" charset="-127"/>
                <a:cs typeface="Arial" charset="0"/>
              </a:rPr>
              <a:t>Appendix</a:t>
            </a:r>
          </a:p>
        </p:txBody>
      </p:sp>
      <p:sp>
        <p:nvSpPr>
          <p:cNvPr id="5" name="직사각형 6"/>
          <p:cNvSpPr>
            <a:spLocks noChangeArrowheads="1"/>
          </p:cNvSpPr>
          <p:nvPr userDrawn="1"/>
        </p:nvSpPr>
        <p:spPr bwMode="auto">
          <a:xfrm>
            <a:off x="2306638" y="2500313"/>
            <a:ext cx="448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sz="2400" dirty="0">
                <a:solidFill>
                  <a:srgbClr val="17375E"/>
                </a:solidFill>
                <a:latin typeface="Arial" charset="0"/>
                <a:ea typeface="Dotum" pitchFamily="34" charset="-127"/>
                <a:cs typeface="Arial" charset="0"/>
              </a:rPr>
              <a:t>Samsung IT Solutions Business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C:\Documents and Settings\pc\바탕 화면\G_NO공유\취합\제목 없음-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8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직선 연결선 11"/>
          <p:cNvCxnSpPr/>
          <p:nvPr userDrawn="1"/>
        </p:nvCxnSpPr>
        <p:spPr>
          <a:xfrm>
            <a:off x="132728" y="733450"/>
            <a:ext cx="87597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191084" y="260648"/>
            <a:ext cx="898942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6381328"/>
            <a:ext cx="213360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5C07274-BC29-4CEA-B816-880B98B21C2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504" y="348592"/>
            <a:ext cx="2340000" cy="3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886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6" r:id="rId8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lang="ko-KR" altLang="en-US" sz="3000" b="1" kern="1200" spc="-130" dirty="0">
          <a:gradFill>
            <a:gsLst>
              <a:gs pos="0">
                <a:srgbClr val="FFFFFF"/>
              </a:gs>
              <a:gs pos="100000">
                <a:srgbClr val="FFFFFF">
                  <a:lumMod val="85000"/>
                </a:srgbClr>
              </a:gs>
            </a:gsLst>
            <a:lin ang="5400000" scaled="0"/>
          </a:gra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굴림" charset="-127"/>
          <a:cs typeface="Arial" pitchFamily="34" charset="0"/>
          <a:sym typeface="Wingdings" pitchFamily="2" charset="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charset="-127"/>
          <a:cs typeface="Arial" pitchFamily="34" charset="0"/>
          <a:sym typeface="Wingdings" pitchFamily="2" charset="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charset="-127"/>
          <a:cs typeface="Arial" pitchFamily="34" charset="0"/>
          <a:sym typeface="Wingdings" pitchFamily="2" charset="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charset="-127"/>
          <a:cs typeface="Arial" pitchFamily="34" charset="0"/>
          <a:sym typeface="Wingdings" pitchFamily="2" charset="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charset="-127"/>
          <a:cs typeface="Arial" pitchFamily="34" charset="0"/>
          <a:sym typeface="Wingdings" pitchFamily="2" charset="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pitchFamily="50" charset="-127"/>
          <a:cs typeface="Arial" pitchFamily="34" charset="0"/>
          <a:sym typeface="Wingdings" pitchFamily="2" charset="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pitchFamily="50" charset="-127"/>
          <a:cs typeface="Arial" pitchFamily="34" charset="0"/>
          <a:sym typeface="Wingdings" pitchFamily="2" charset="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pitchFamily="50" charset="-127"/>
          <a:cs typeface="Arial" pitchFamily="34" charset="0"/>
          <a:sym typeface="Wingdings" pitchFamily="2" charset="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tx1"/>
          </a:solidFill>
          <a:latin typeface="Arial" pitchFamily="34" charset="0"/>
          <a:ea typeface="굴림" pitchFamily="50" charset="-127"/>
          <a:cs typeface="Arial" pitchFamily="34" charset="0"/>
          <a:sym typeface="Wingdings" pitchFamily="2" charset="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har char="•"/>
        <a:defRPr kumimoji="1" lang="ko-KR" altLang="en-US" sz="1600">
          <a:solidFill>
            <a:srgbClr val="5C5C5C"/>
          </a:solidFill>
          <a:latin typeface="Arial" pitchFamily="34" charset="0"/>
          <a:ea typeface="굴림" charset="-127"/>
          <a:cs typeface="Arial" pitchFamily="34" charset="0"/>
        </a:defRPr>
      </a:lvl1pPr>
      <a:lvl2pPr marL="457200" algn="l" rtl="0" eaLnBrk="0" fontAlgn="base" latinLnBrk="1" hangingPunct="0">
        <a:spcBef>
          <a:spcPct val="20000"/>
        </a:spcBef>
        <a:spcAft>
          <a:spcPct val="0"/>
        </a:spcAft>
        <a:buClr>
          <a:srgbClr val="03529F"/>
        </a:buClr>
        <a:buChar char="-"/>
        <a:defRPr kumimoji="1" lang="ko-KR" altLang="en-US" sz="1600">
          <a:solidFill>
            <a:srgbClr val="5C5C5C"/>
          </a:solidFill>
          <a:latin typeface="Arial" pitchFamily="34" charset="0"/>
          <a:ea typeface="굴림" charset="-127"/>
          <a:cs typeface="Arial" pitchFamily="34" charset="0"/>
        </a:defRPr>
      </a:lvl2pPr>
      <a:lvl3pPr marL="914400" algn="l" rtl="0" eaLnBrk="0" fontAlgn="base" latinLnBrk="1" hangingPunct="0">
        <a:spcBef>
          <a:spcPct val="20000"/>
        </a:spcBef>
        <a:spcAft>
          <a:spcPct val="0"/>
        </a:spcAft>
        <a:buClr>
          <a:srgbClr val="03529F"/>
        </a:buClr>
        <a:buFont typeface="Arial" pitchFamily="34" charset="0"/>
        <a:buChar char="•"/>
        <a:defRPr kumimoji="1" lang="ko-KR" altLang="en-US" sz="1600">
          <a:solidFill>
            <a:srgbClr val="5C5C5C"/>
          </a:solidFill>
          <a:latin typeface="Arial" pitchFamily="34" charset="0"/>
          <a:ea typeface="굴림" charset="-127"/>
          <a:cs typeface="Arial" pitchFamily="34" charset="0"/>
        </a:defRPr>
      </a:lvl3pPr>
      <a:lvl4pPr marL="1371600" algn="l" rtl="0" eaLnBrk="0" fontAlgn="base" latinLnBrk="1" hangingPunct="0">
        <a:spcBef>
          <a:spcPct val="20000"/>
        </a:spcBef>
        <a:spcAft>
          <a:spcPct val="0"/>
        </a:spcAft>
        <a:buClr>
          <a:srgbClr val="03529F"/>
        </a:buClr>
        <a:buChar char="-"/>
        <a:defRPr kumimoji="1" lang="ko-KR" altLang="en-US" sz="1600">
          <a:solidFill>
            <a:srgbClr val="5C5C5C"/>
          </a:solidFill>
          <a:latin typeface="Arial" pitchFamily="34" charset="0"/>
          <a:ea typeface="굴림" charset="-127"/>
          <a:cs typeface="Arial" pitchFamily="34" charset="0"/>
        </a:defRPr>
      </a:lvl4pPr>
      <a:lvl5pPr marL="1828800" algn="l" rtl="0" eaLnBrk="0" fontAlgn="base" latinLnBrk="1" hangingPunct="0">
        <a:spcBef>
          <a:spcPct val="20000"/>
        </a:spcBef>
        <a:spcAft>
          <a:spcPct val="0"/>
        </a:spcAft>
        <a:buClr>
          <a:srgbClr val="03529F"/>
        </a:buClr>
        <a:buFont typeface="Arial" pitchFamily="34" charset="0"/>
        <a:buChar char="•"/>
        <a:defRPr kumimoji="1" lang="ko-KR" altLang="en-US" sz="1600">
          <a:solidFill>
            <a:srgbClr val="5C5C5C"/>
          </a:solidFill>
          <a:latin typeface="Arial" pitchFamily="34" charset="0"/>
          <a:ea typeface="굴림" charset="-127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94197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조치 지시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정문 외벽 지지대 설치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정문 외벽의 지반 침하현상 및 중심축의 변화로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인한  외벽 틈새 벌어짐 현상 발생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 조치 요망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외벽 지지대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앙카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설치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(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더 이상의 쏠림 현상 방지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(24. 07. 05)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2114922" cy="2911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1259632" y="1844824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369144" y="1628800"/>
            <a:ext cx="0" cy="17281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H="1">
            <a:off x="1403648" y="1628800"/>
            <a:ext cx="72008" cy="172351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 flipV="1">
            <a:off x="1547664" y="2276872"/>
            <a:ext cx="1440160" cy="213685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17878" y="2473866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틈새 벌어짐 현상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844824"/>
            <a:ext cx="2460861" cy="29052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885" y="2840548"/>
            <a:ext cx="1519611" cy="1909382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75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129877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보호 가드 라인 파손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검수실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진입로쪽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보호 가드 라인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연결 부위 파손으로 인한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절단면 위험 노출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-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날카로운 단면으로 인한 인재 사고 우려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지관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+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스펀지 소재로 보호 처리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(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사고 위험성 원천 차단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(24. 08. 22)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86047" y="4057908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연결 부위 파손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절단면 위험노출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5D883C-CC98-7663-16E1-5EB4BEAF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88" y="1751361"/>
            <a:ext cx="2284637" cy="2739542"/>
          </a:xfrm>
          <a:prstGeom prst="rect">
            <a:avLst/>
          </a:prstGeom>
          <a:ln w="34925">
            <a:solidFill>
              <a:srgbClr val="FFC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9EA80B-520A-E4C9-4B84-905C8F3FE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550" y="1771419"/>
            <a:ext cx="2045549" cy="1324802"/>
          </a:xfrm>
          <a:prstGeom prst="rect">
            <a:avLst/>
          </a:prstGeom>
          <a:ln w="34925">
            <a:solidFill>
              <a:srgbClr val="FF0000"/>
            </a:solidFill>
            <a:prstDash val="sysDash"/>
          </a:ln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A5BEC2D3-49A2-63C8-AE5B-88CFD7E9D187}"/>
              </a:ext>
            </a:extLst>
          </p:cNvPr>
          <p:cNvSpPr/>
          <p:nvPr/>
        </p:nvSpPr>
        <p:spPr>
          <a:xfrm>
            <a:off x="1331640" y="2840548"/>
            <a:ext cx="792088" cy="767343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F455EBD-D3CC-F6D0-1691-219BB5213244}"/>
              </a:ext>
            </a:extLst>
          </p:cNvPr>
          <p:cNvCxnSpPr>
            <a:cxnSpLocks/>
          </p:cNvCxnSpPr>
          <p:nvPr/>
        </p:nvCxnSpPr>
        <p:spPr>
          <a:xfrm flipH="1" flipV="1">
            <a:off x="1979712" y="3442506"/>
            <a:ext cx="1059568" cy="49055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78504A9D-ACAA-E2DE-689F-B30591B06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38" y="1627177"/>
            <a:ext cx="3794310" cy="2105807"/>
          </a:xfrm>
          <a:prstGeom prst="rect">
            <a:avLst/>
          </a:prstGeom>
        </p:spPr>
      </p:pic>
      <p:cxnSp>
        <p:nvCxnSpPr>
          <p:cNvPr id="11" name="직선 연결선 10"/>
          <p:cNvCxnSpPr>
            <a:cxnSpLocks/>
          </p:cNvCxnSpPr>
          <p:nvPr/>
        </p:nvCxnSpPr>
        <p:spPr>
          <a:xfrm>
            <a:off x="5652120" y="2640702"/>
            <a:ext cx="0" cy="1417206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7610DD0-6313-8957-DF4C-141A8C2B0E05}"/>
              </a:ext>
            </a:extLst>
          </p:cNvPr>
          <p:cNvCxnSpPr>
            <a:cxnSpLocks/>
          </p:cNvCxnSpPr>
          <p:nvPr/>
        </p:nvCxnSpPr>
        <p:spPr>
          <a:xfrm>
            <a:off x="6300192" y="2627754"/>
            <a:ext cx="0" cy="1417206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877574C-B438-62F1-439E-2C94BCFD6B3F}"/>
              </a:ext>
            </a:extLst>
          </p:cNvPr>
          <p:cNvCxnSpPr>
            <a:cxnSpLocks/>
          </p:cNvCxnSpPr>
          <p:nvPr/>
        </p:nvCxnSpPr>
        <p:spPr>
          <a:xfrm>
            <a:off x="5652120" y="3933056"/>
            <a:ext cx="648072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FFD7437-5E17-73D0-4AF6-D3A1C83F56D5}"/>
              </a:ext>
            </a:extLst>
          </p:cNvPr>
          <p:cNvSpPr txBox="1"/>
          <p:nvPr/>
        </p:nvSpPr>
        <p:spPr>
          <a:xfrm>
            <a:off x="4924609" y="4165712"/>
            <a:ext cx="4012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안전공간 확보  및 </a:t>
            </a:r>
            <a:endParaRPr lang="en-US" altLang="ko-KR" sz="1400" b="1" dirty="0"/>
          </a:p>
          <a:p>
            <a:r>
              <a:rPr lang="ko-KR" altLang="en-US" sz="1400" b="1" dirty="0"/>
              <a:t>지관</a:t>
            </a:r>
            <a:r>
              <a:rPr lang="en-US" altLang="ko-KR" sz="1400" b="1" dirty="0"/>
              <a:t>+</a:t>
            </a:r>
            <a:r>
              <a:rPr lang="ko-KR" altLang="en-US" sz="1400" b="1" dirty="0"/>
              <a:t>스펀지 소재로 보호 처리</a:t>
            </a:r>
          </a:p>
        </p:txBody>
      </p:sp>
    </p:spTree>
    <p:extLst>
      <p:ext uri="{BB962C8B-B14F-4D97-AF65-F5344CB8AC3E}">
        <p14:creationId xmlns:p14="http://schemas.microsoft.com/office/powerpoint/2010/main" val="269980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16B98-B781-2A82-040D-A4BD9613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54B666CB-3B39-0C65-66FD-0A01CED80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782507"/>
              </p:ext>
            </p:extLst>
          </p:nvPr>
        </p:nvGraphicFramePr>
        <p:xfrm>
          <a:off x="255588" y="814388"/>
          <a:ext cx="8672512" cy="5614362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자재 목형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창고쪽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출입구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문을 여닫는 과정에서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완충장치의 충격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으로 인한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연결부위의 마모 현상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발생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-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보강 처리 요망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뭉치의 낙하사고로 인한 인재 사고 우려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보강 체결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주의 표시 문구 부착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 사이에 완충 제품 추가 보완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(24. 10. 28)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1AB6A3B0-4102-259E-5AA0-ECCAB482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864DAF-52F8-7866-A871-E95F96620B6E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20E7E9-B344-E678-4ECD-8CBF5823C47A}"/>
              </a:ext>
            </a:extLst>
          </p:cNvPr>
          <p:cNvSpPr txBox="1"/>
          <p:nvPr/>
        </p:nvSpPr>
        <p:spPr>
          <a:xfrm>
            <a:off x="1649441" y="4150947"/>
            <a:ext cx="32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연결 뭉치 마모로 인한 체결 불량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 (</a:t>
            </a:r>
            <a:r>
              <a:rPr lang="ko-KR" altLang="en-US" sz="1400" b="1" dirty="0">
                <a:solidFill>
                  <a:srgbClr val="FF0000"/>
                </a:solidFill>
              </a:rPr>
              <a:t>체결 나사 이탈 됨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2BBAEBA-3EA8-78CE-F146-A24E3C335263}"/>
              </a:ext>
            </a:extLst>
          </p:cNvPr>
          <p:cNvCxnSpPr>
            <a:cxnSpLocks/>
          </p:cNvCxnSpPr>
          <p:nvPr/>
        </p:nvCxnSpPr>
        <p:spPr>
          <a:xfrm>
            <a:off x="9396536" y="4797152"/>
            <a:ext cx="648072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CEC1EBF-0B4F-517A-ABD2-C4F7C16D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6" y="1665211"/>
            <a:ext cx="1691006" cy="2267845"/>
          </a:xfrm>
          <a:prstGeom prst="rect">
            <a:avLst/>
          </a:prstGeom>
          <a:ln w="15875">
            <a:solidFill>
              <a:srgbClr val="00B05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B129EA-5E22-B41F-25E0-C5253FB1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865" y="1782064"/>
            <a:ext cx="1824237" cy="1950920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7C5D16C3-C3FF-5C36-36C1-53B40A80C96D}"/>
              </a:ext>
            </a:extLst>
          </p:cNvPr>
          <p:cNvSpPr/>
          <p:nvPr/>
        </p:nvSpPr>
        <p:spPr>
          <a:xfrm>
            <a:off x="1227484" y="2244082"/>
            <a:ext cx="792088" cy="767343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D9C3402-AAB0-77D1-AABB-F499F9BC320F}"/>
              </a:ext>
            </a:extLst>
          </p:cNvPr>
          <p:cNvCxnSpPr>
            <a:cxnSpLocks/>
          </p:cNvCxnSpPr>
          <p:nvPr/>
        </p:nvCxnSpPr>
        <p:spPr>
          <a:xfrm>
            <a:off x="2041919" y="2640702"/>
            <a:ext cx="978414" cy="4094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2E700319-5F6E-B300-59D8-52EB5E03A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917" y="1623477"/>
            <a:ext cx="2943155" cy="260679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7433067-EA77-8CB3-3CB4-6C00239D2253}"/>
              </a:ext>
            </a:extLst>
          </p:cNvPr>
          <p:cNvSpPr txBox="1"/>
          <p:nvPr/>
        </p:nvSpPr>
        <p:spPr>
          <a:xfrm>
            <a:off x="4915556" y="4330809"/>
            <a:ext cx="4012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나사 보강 체결 및 완충 제품 추가 보완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59C6FCB-856D-DCE1-4199-148FA0AF3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072" y="1599807"/>
            <a:ext cx="1099134" cy="1157717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6A029835-57C2-D515-9DE8-5C704DD670A6}"/>
              </a:ext>
            </a:extLst>
          </p:cNvPr>
          <p:cNvSpPr/>
          <p:nvPr/>
        </p:nvSpPr>
        <p:spPr>
          <a:xfrm>
            <a:off x="5076056" y="2420888"/>
            <a:ext cx="792088" cy="864096"/>
          </a:xfrm>
          <a:prstGeom prst="ellipse">
            <a:avLst/>
          </a:prstGeom>
          <a:noFill/>
          <a:ln w="539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6807062-1E73-8392-783C-C24BFAC77F0B}"/>
              </a:ext>
            </a:extLst>
          </p:cNvPr>
          <p:cNvSpPr/>
          <p:nvPr/>
        </p:nvSpPr>
        <p:spPr>
          <a:xfrm>
            <a:off x="5776900" y="3336882"/>
            <a:ext cx="792088" cy="864096"/>
          </a:xfrm>
          <a:prstGeom prst="ellipse">
            <a:avLst/>
          </a:prstGeom>
          <a:noFill/>
          <a:ln w="539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FE0938A-CA4B-020E-A45A-41E3F9193309}"/>
              </a:ext>
            </a:extLst>
          </p:cNvPr>
          <p:cNvSpPr/>
          <p:nvPr/>
        </p:nvSpPr>
        <p:spPr>
          <a:xfrm>
            <a:off x="7776166" y="1626384"/>
            <a:ext cx="872869" cy="950742"/>
          </a:xfrm>
          <a:prstGeom prst="ellipse">
            <a:avLst/>
          </a:prstGeom>
          <a:noFill/>
          <a:ln w="539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0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ED01-16E3-50F3-A0C1-47F62156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ABF1F9BE-885B-680B-F38E-B790FEAC0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02915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재단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출입구쪽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천장 작업 덮개 이탈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체결 나사 이탈로 인한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작업 덮개 낙하 우려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보강 체결 완료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작업 안전 수칙 철저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–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안전벨트 착용 작업 진행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(24. 11. 06)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C994BA4F-4B0C-4782-80E6-2FF89DE1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5B33C59-609E-F051-61A9-F99149D12950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79D2CB-F656-23D1-9696-C3759DA5BCB1}"/>
              </a:ext>
            </a:extLst>
          </p:cNvPr>
          <p:cNvSpPr txBox="1"/>
          <p:nvPr/>
        </p:nvSpPr>
        <p:spPr>
          <a:xfrm>
            <a:off x="2624828" y="2937466"/>
            <a:ext cx="32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작업 덮개 부분 이탈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 (</a:t>
            </a:r>
            <a:r>
              <a:rPr lang="ko-KR" altLang="en-US" sz="1400" b="1" dirty="0">
                <a:solidFill>
                  <a:srgbClr val="FF0000"/>
                </a:solidFill>
              </a:rPr>
              <a:t>체결 나사 이탈 됨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4D2727-3AA2-54E8-D53F-0457871D7F77}"/>
              </a:ext>
            </a:extLst>
          </p:cNvPr>
          <p:cNvSpPr txBox="1"/>
          <p:nvPr/>
        </p:nvSpPr>
        <p:spPr>
          <a:xfrm>
            <a:off x="4915556" y="4330809"/>
            <a:ext cx="4012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B050"/>
                </a:solidFill>
              </a:rPr>
              <a:t>나사 보강 체결 완료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A7726E-106E-8FAC-CB08-385335D7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9" y="1599807"/>
            <a:ext cx="2015997" cy="2325596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DD442BD-D6D1-DFB8-4BF2-D8AC56AAB90F}"/>
              </a:ext>
            </a:extLst>
          </p:cNvPr>
          <p:cNvCxnSpPr>
            <a:cxnSpLocks/>
          </p:cNvCxnSpPr>
          <p:nvPr/>
        </p:nvCxnSpPr>
        <p:spPr>
          <a:xfrm flipH="1" flipV="1">
            <a:off x="2446257" y="2396363"/>
            <a:ext cx="808479" cy="45657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CB484D-4E25-E79D-F272-974503CB0272}"/>
              </a:ext>
            </a:extLst>
          </p:cNvPr>
          <p:cNvSpPr/>
          <p:nvPr/>
        </p:nvSpPr>
        <p:spPr>
          <a:xfrm>
            <a:off x="753685" y="2131109"/>
            <a:ext cx="1520402" cy="530509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DBD13CC-2738-92DC-8C7B-469F7CEB2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308" y="1584479"/>
            <a:ext cx="2937509" cy="2611119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8DF55E5A-96A6-4563-6898-ACEDC15C46E3}"/>
              </a:ext>
            </a:extLst>
          </p:cNvPr>
          <p:cNvSpPr/>
          <p:nvPr/>
        </p:nvSpPr>
        <p:spPr>
          <a:xfrm>
            <a:off x="6020018" y="1964314"/>
            <a:ext cx="1072262" cy="1104645"/>
          </a:xfrm>
          <a:prstGeom prst="ellipse">
            <a:avLst/>
          </a:prstGeom>
          <a:noFill/>
          <a:ln w="539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28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2CA7-66F5-E467-27B1-4664AD43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871391FB-D1E0-29C9-69DB-D9BC29FFD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497491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인쇄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컴퓨터 전원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멀티콘센트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과전류 차단 스위치 고장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스파크 발생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OFF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작동 안 됨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.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멀티 콘센트 교체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(250V / 16A)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(25. 01. 06)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93DD6D5E-B7AA-33CD-1AE3-C8CD986BD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317FC6F-F1A6-48D4-66BD-82F02096452C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5E59243-B58D-17AA-8286-193F2EA7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48" y="1608988"/>
            <a:ext cx="2727184" cy="3012386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E0F2A46-5F7D-432B-73E1-D4C1458747B4}"/>
              </a:ext>
            </a:extLst>
          </p:cNvPr>
          <p:cNvCxnSpPr>
            <a:cxnSpLocks/>
          </p:cNvCxnSpPr>
          <p:nvPr/>
        </p:nvCxnSpPr>
        <p:spPr>
          <a:xfrm flipH="1">
            <a:off x="2051720" y="2852936"/>
            <a:ext cx="1203016" cy="1224136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0DBDC3-2770-B97B-E9CF-9AEA2C7BF58B}"/>
              </a:ext>
            </a:extLst>
          </p:cNvPr>
          <p:cNvSpPr txBox="1"/>
          <p:nvPr/>
        </p:nvSpPr>
        <p:spPr>
          <a:xfrm>
            <a:off x="3254736" y="2568856"/>
            <a:ext cx="32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과전류 차단 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스위치 고장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599A21D-9685-2CE7-F576-5119B69A11D1}"/>
              </a:ext>
            </a:extLst>
          </p:cNvPr>
          <p:cNvSpPr/>
          <p:nvPr/>
        </p:nvSpPr>
        <p:spPr>
          <a:xfrm>
            <a:off x="1403648" y="3954188"/>
            <a:ext cx="864096" cy="37662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EDFC494-CCD9-3235-E03A-535947238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705" y="1643112"/>
            <a:ext cx="2065121" cy="3029598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264ADDCE-790C-A238-DA85-33A5F552C29C}"/>
              </a:ext>
            </a:extLst>
          </p:cNvPr>
          <p:cNvSpPr/>
          <p:nvPr/>
        </p:nvSpPr>
        <p:spPr>
          <a:xfrm>
            <a:off x="5926529" y="3942958"/>
            <a:ext cx="634575" cy="421386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73CD58-DA6F-54F2-F241-B4037CAC7750}"/>
              </a:ext>
            </a:extLst>
          </p:cNvPr>
          <p:cNvSpPr txBox="1"/>
          <p:nvPr/>
        </p:nvSpPr>
        <p:spPr>
          <a:xfrm>
            <a:off x="7470088" y="2727786"/>
            <a:ext cx="4012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solidFill>
                  <a:srgbClr val="00B050"/>
                </a:solidFill>
              </a:rPr>
              <a:t>멀티콘센트</a:t>
            </a:r>
            <a:r>
              <a:rPr lang="ko-KR" altLang="en-US" sz="1400" b="1" dirty="0">
                <a:solidFill>
                  <a:srgbClr val="00B050"/>
                </a:solidFill>
              </a:rPr>
              <a:t> 교체</a:t>
            </a:r>
            <a:endParaRPr lang="en-US" altLang="ko-KR" sz="1400" b="1" dirty="0">
              <a:solidFill>
                <a:srgbClr val="00B050"/>
              </a:solidFill>
            </a:endParaRPr>
          </a:p>
          <a:p>
            <a:endParaRPr lang="ko-KR" altLang="en-US" sz="1400" b="1" dirty="0">
              <a:solidFill>
                <a:srgbClr val="00B05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F292A15-B95E-272C-3110-6BDE88D836C1}"/>
              </a:ext>
            </a:extLst>
          </p:cNvPr>
          <p:cNvCxnSpPr>
            <a:cxnSpLocks/>
          </p:cNvCxnSpPr>
          <p:nvPr/>
        </p:nvCxnSpPr>
        <p:spPr>
          <a:xfrm flipH="1">
            <a:off x="6406111" y="3008236"/>
            <a:ext cx="1063977" cy="947928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75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69C8-CBA8-3310-3690-9F450B068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0FF41836-0213-0F07-AFAD-3B66B733C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371842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시야기쪽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포충등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교체 및 전원선 연결 보완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.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포충등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전등 불량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2.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전원선 연결 부위 불량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포충등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교체 완료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전원선 콘센트 코드 추가 보완 완료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(25. 02. 10)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85029DA6-72DE-4075-D3C7-422151D7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83286D-5E06-2F03-7ABD-9CC71EB3E2B0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D140566-4FAE-1913-EA15-8C5249503504}"/>
              </a:ext>
            </a:extLst>
          </p:cNvPr>
          <p:cNvSpPr/>
          <p:nvPr/>
        </p:nvSpPr>
        <p:spPr>
          <a:xfrm>
            <a:off x="1236521" y="2358870"/>
            <a:ext cx="2160240" cy="1728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err="1">
                <a:solidFill>
                  <a:schemeClr val="tx1"/>
                </a:solidFill>
              </a:rPr>
              <a:t>포충등</a:t>
            </a:r>
            <a:r>
              <a:rPr lang="ko-KR" altLang="en-US" sz="2400" b="1" dirty="0">
                <a:solidFill>
                  <a:schemeClr val="tx1"/>
                </a:solidFill>
              </a:rPr>
              <a:t>        </a:t>
            </a:r>
            <a:r>
              <a:rPr lang="ko-KR" altLang="en-US" sz="2400" b="1" dirty="0">
                <a:solidFill>
                  <a:srgbClr val="FF0000"/>
                </a:solidFill>
              </a:rPr>
              <a:t>전등 불량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DF10B0-6449-9A04-E1D8-B28825424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331" y="1580544"/>
            <a:ext cx="2694236" cy="2342567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D77E9CD5-0B1D-E0F2-BB22-7F76823F1DDD}"/>
              </a:ext>
            </a:extLst>
          </p:cNvPr>
          <p:cNvSpPr/>
          <p:nvPr/>
        </p:nvSpPr>
        <p:spPr>
          <a:xfrm>
            <a:off x="4795397" y="3470655"/>
            <a:ext cx="562850" cy="421386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75B3CB-6D93-6A31-FE9E-AC28BE68A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884" y="3438872"/>
            <a:ext cx="1905000" cy="133350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844393A-3EB1-3B51-8666-B316DB83103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91194" y="3726509"/>
            <a:ext cx="1365690" cy="379113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65929-FCAA-9995-E9A8-12AD7F89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62033DEC-DBA5-139C-9CB9-FF05673E7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56120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출입문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부출입문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교체 보완 조치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.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풀림현상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발생으로 인한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출입문의 파손 우려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안정성의 문제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2.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고정대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보완 필요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나사 교체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지름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4mm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 8mm)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-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보다 큰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지지력으로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 인한 안정성 확대 기대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(25. 02. 11)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45CA2196-EB2C-2702-9027-0FE43D906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88351-F2D9-ED70-2ACA-8E56EA4FE6D8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9019D14-68BE-1383-EFCB-8C906309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70" y="1793847"/>
            <a:ext cx="2728797" cy="234256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099C93F-1EE0-50E7-946C-4194459519DE}"/>
              </a:ext>
            </a:extLst>
          </p:cNvPr>
          <p:cNvSpPr/>
          <p:nvPr/>
        </p:nvSpPr>
        <p:spPr>
          <a:xfrm>
            <a:off x="1144715" y="2310318"/>
            <a:ext cx="562850" cy="614626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9EC8D4E-1A3B-6F2F-F79A-4941A7EDC582}"/>
              </a:ext>
            </a:extLst>
          </p:cNvPr>
          <p:cNvCxnSpPr>
            <a:cxnSpLocks/>
          </p:cNvCxnSpPr>
          <p:nvPr/>
        </p:nvCxnSpPr>
        <p:spPr>
          <a:xfrm flipH="1" flipV="1">
            <a:off x="1735669" y="2712538"/>
            <a:ext cx="1835345" cy="500438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C9B675-4E93-72CF-A69F-84EB2DCFB04B}"/>
              </a:ext>
            </a:extLst>
          </p:cNvPr>
          <p:cNvSpPr txBox="1"/>
          <p:nvPr/>
        </p:nvSpPr>
        <p:spPr>
          <a:xfrm>
            <a:off x="3347864" y="3573016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나사 풀림 현상 발생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52A209D-5C5D-C945-B4BC-EF8EBCD1C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018" y="1560714"/>
            <a:ext cx="3076004" cy="1983434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BC2FE601-C41C-0DF2-334B-BD52549CE2D5}"/>
              </a:ext>
            </a:extLst>
          </p:cNvPr>
          <p:cNvSpPr/>
          <p:nvPr/>
        </p:nvSpPr>
        <p:spPr>
          <a:xfrm>
            <a:off x="5666145" y="2211200"/>
            <a:ext cx="562850" cy="421386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BB53F2-C550-4C64-75A4-2A9F5C49B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385" y="3068960"/>
            <a:ext cx="1542835" cy="1451483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708A020-8078-EA11-60D1-DC338D939C3D}"/>
              </a:ext>
            </a:extLst>
          </p:cNvPr>
          <p:cNvCxnSpPr>
            <a:cxnSpLocks/>
            <a:endCxn id="23" idx="4"/>
          </p:cNvCxnSpPr>
          <p:nvPr/>
        </p:nvCxnSpPr>
        <p:spPr>
          <a:xfrm flipH="1" flipV="1">
            <a:off x="5947570" y="2632586"/>
            <a:ext cx="1203815" cy="1263595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359E534-486D-78A1-C9F3-85B9F5728EF8}"/>
              </a:ext>
            </a:extLst>
          </p:cNvPr>
          <p:cNvSpPr txBox="1"/>
          <p:nvPr/>
        </p:nvSpPr>
        <p:spPr>
          <a:xfrm>
            <a:off x="4903458" y="3795856"/>
            <a:ext cx="5314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나사 교체 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지름</a:t>
            </a:r>
            <a:r>
              <a:rPr lang="en-US" altLang="ko-KR" b="1" dirty="0">
                <a:solidFill>
                  <a:srgbClr val="FF0000"/>
                </a:solidFill>
              </a:rPr>
              <a:t>4mm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8mm)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816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65929-FCAA-9995-E9A8-12AD7F89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62033DEC-DBA5-139C-9CB9-FF05673E7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206777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건물 외곽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뒤쪽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.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잡초로 인한 벌레 유입 및 주변 환경 파괴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2.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배수로 미비로 인한 물 고임 및  바닥 패임 발생 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제초작업 진행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 작업자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이봉수 이사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배수로 보완 작업 진행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 작업자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이봉수 이사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(25. 06. 04)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45CA2196-EB2C-2702-9027-0FE43D906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88351-F2D9-ED70-2ACA-8E56EA4FE6D8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C9B675-4E93-72CF-A69F-84EB2DCFB04B}"/>
              </a:ext>
            </a:extLst>
          </p:cNvPr>
          <p:cNvSpPr txBox="1"/>
          <p:nvPr/>
        </p:nvSpPr>
        <p:spPr>
          <a:xfrm>
            <a:off x="755576" y="2732727"/>
            <a:ext cx="4392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>
                <a:solidFill>
                  <a:srgbClr val="FF0000"/>
                </a:solidFill>
              </a:rPr>
              <a:t>잡초가 무성한 상태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b="1" dirty="0">
                <a:solidFill>
                  <a:srgbClr val="FF0000"/>
                </a:solidFill>
              </a:rPr>
              <a:t>배수로 미비로 인한 물 고임 및 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   </a:t>
            </a:r>
            <a:r>
              <a:rPr lang="ko-KR" altLang="en-US" b="1" dirty="0">
                <a:solidFill>
                  <a:srgbClr val="FF0000"/>
                </a:solidFill>
              </a:rPr>
              <a:t>바닥 패임 현상 발생  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961" y="1620174"/>
            <a:ext cx="2224622" cy="309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BC2FE601-C41C-0DF2-334B-BD52549CE2D5}"/>
              </a:ext>
            </a:extLst>
          </p:cNvPr>
          <p:cNvSpPr/>
          <p:nvPr/>
        </p:nvSpPr>
        <p:spPr>
          <a:xfrm>
            <a:off x="6012160" y="1691650"/>
            <a:ext cx="1346501" cy="2008148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59E534-486D-78A1-C9F3-85B9F5728EF8}"/>
              </a:ext>
            </a:extLst>
          </p:cNvPr>
          <p:cNvSpPr txBox="1"/>
          <p:nvPr/>
        </p:nvSpPr>
        <p:spPr>
          <a:xfrm>
            <a:off x="7236296" y="1772816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</a:rPr>
              <a:t>제초작업 진행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</a:rPr>
              <a:t>배수로 보완작업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737532"/>
            <a:ext cx="1776485" cy="1154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012646" y="4077072"/>
            <a:ext cx="1519794" cy="573543"/>
          </a:xfrm>
          <a:prstGeom prst="rect">
            <a:avLst/>
          </a:prstGeom>
          <a:noFill/>
          <a:ln w="44450"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70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FD09-6FE1-59E8-F56B-4A2C6EBB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DEF636E4-36F8-8308-8388-4B001D39C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877704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재단실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창고 문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05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-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완충 블록의 볼트 풀림으로 인한 안전사고 우려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볼트 조임 완료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(25. 07. 28)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029CF33A-25BF-0B7A-CB97-36AB39640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9D80FED-28F0-55CA-EB4C-AF3A37F01270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8464DEE4-152C-2033-09CC-748FADC0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859779"/>
            <a:ext cx="2411790" cy="2649341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EBBFFD6C-9E92-06BE-AE6F-946C6FDB701E}"/>
              </a:ext>
            </a:extLst>
          </p:cNvPr>
          <p:cNvSpPr/>
          <p:nvPr/>
        </p:nvSpPr>
        <p:spPr>
          <a:xfrm>
            <a:off x="5292080" y="2492896"/>
            <a:ext cx="1008112" cy="1530484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EB5B1-6303-C312-9E69-5FDC376D7A89}"/>
              </a:ext>
            </a:extLst>
          </p:cNvPr>
          <p:cNvSpPr txBox="1"/>
          <p:nvPr/>
        </p:nvSpPr>
        <p:spPr>
          <a:xfrm>
            <a:off x="539552" y="4181564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</a:rPr>
              <a:t>볼트 풀림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58A7EB7-3930-97EC-9B1E-B284A5ADE366}"/>
              </a:ext>
            </a:extLst>
          </p:cNvPr>
          <p:cNvCxnSpPr>
            <a:cxnSpLocks/>
          </p:cNvCxnSpPr>
          <p:nvPr/>
        </p:nvCxnSpPr>
        <p:spPr>
          <a:xfrm flipH="1" flipV="1">
            <a:off x="6248363" y="3556869"/>
            <a:ext cx="1330916" cy="358521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0FB73A95-182A-8555-D030-91F7C1E45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15" y="1647474"/>
            <a:ext cx="1892426" cy="22679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71177A7-1CA8-C4D4-AD29-33275D7BE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806" y="1628800"/>
            <a:ext cx="2304256" cy="2973394"/>
          </a:xfrm>
          <a:prstGeom prst="rect">
            <a:avLst/>
          </a:prstGeom>
          <a:ln w="47625">
            <a:solidFill>
              <a:srgbClr val="FF0000"/>
            </a:solidFill>
          </a:ln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E312A91-50C8-4675-9F8F-B55776B61349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1454062" y="2129672"/>
            <a:ext cx="1161143" cy="618576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EE53E000-88FB-CEF9-36BA-A3DA38C3D39D}"/>
              </a:ext>
            </a:extLst>
          </p:cNvPr>
          <p:cNvSpPr/>
          <p:nvPr/>
        </p:nvSpPr>
        <p:spPr>
          <a:xfrm>
            <a:off x="1027676" y="1913648"/>
            <a:ext cx="426386" cy="432048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317971D-C19E-88C8-8162-9C20C7033186}"/>
              </a:ext>
            </a:extLst>
          </p:cNvPr>
          <p:cNvSpPr/>
          <p:nvPr/>
        </p:nvSpPr>
        <p:spPr>
          <a:xfrm>
            <a:off x="2615205" y="2306368"/>
            <a:ext cx="426386" cy="1122632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A95DDC-FCD7-2ACC-3587-5E2144BAD642}"/>
              </a:ext>
            </a:extLst>
          </p:cNvPr>
          <p:cNvSpPr txBox="1"/>
          <p:nvPr/>
        </p:nvSpPr>
        <p:spPr>
          <a:xfrm>
            <a:off x="7377128" y="3998221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B050"/>
                </a:solidFill>
              </a:rPr>
              <a:t>- </a:t>
            </a:r>
            <a:r>
              <a:rPr lang="ko-KR" altLang="en-US" sz="1400" b="1" dirty="0">
                <a:solidFill>
                  <a:srgbClr val="00B050"/>
                </a:solidFill>
              </a:rPr>
              <a:t>볼트 조임 완료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83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F5FD-BFDC-C6EB-1890-2CD16D48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136B426D-8678-A86D-1CFC-35ADA80F1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429612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중 회의실 천정 소방 감지기 부분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06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-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천정 누수로 인한  안전 사고 우려 발생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천정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덕트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교체 완료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 작업자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이봉수 이사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보조 작업자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김기태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(25. 08. 28)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40CD92FC-90FF-5C17-1D76-25EC3FDE7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1C779A-6654-0F24-21F3-62535751AC45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058C68A-7DCE-A9E6-F4A1-85F41A45B2EE}"/>
              </a:ext>
            </a:extLst>
          </p:cNvPr>
          <p:cNvSpPr txBox="1"/>
          <p:nvPr/>
        </p:nvSpPr>
        <p:spPr>
          <a:xfrm>
            <a:off x="3417562" y="1749872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</a:rPr>
              <a:t>누수발생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6FC8D1-8374-74B7-EB3C-9BA24DD18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53656" y="1709428"/>
            <a:ext cx="2318266" cy="2552764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76C5559-63AE-38A4-6A7E-A9BC7C4E0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45" y="2568738"/>
            <a:ext cx="2096035" cy="1976262"/>
          </a:xfrm>
          <a:prstGeom prst="rect">
            <a:avLst/>
          </a:prstGeom>
          <a:ln w="66675">
            <a:solidFill>
              <a:srgbClr val="FF0000"/>
            </a:solidFill>
          </a:ln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10EE0FA3-2DE5-603E-4210-FF0F674A26D9}"/>
              </a:ext>
            </a:extLst>
          </p:cNvPr>
          <p:cNvSpPr/>
          <p:nvPr/>
        </p:nvSpPr>
        <p:spPr>
          <a:xfrm>
            <a:off x="658125" y="1673021"/>
            <a:ext cx="2003783" cy="1122632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885CDC-7D3F-B756-338E-1F69384C80EC}"/>
              </a:ext>
            </a:extLst>
          </p:cNvPr>
          <p:cNvCxnSpPr>
            <a:cxnSpLocks/>
          </p:cNvCxnSpPr>
          <p:nvPr/>
        </p:nvCxnSpPr>
        <p:spPr>
          <a:xfrm flipH="1">
            <a:off x="2600745" y="1903760"/>
            <a:ext cx="732828" cy="229096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3005E348-5CCD-7838-9C5E-8283BF03DAEF}"/>
              </a:ext>
            </a:extLst>
          </p:cNvPr>
          <p:cNvSpPr/>
          <p:nvPr/>
        </p:nvSpPr>
        <p:spPr>
          <a:xfrm>
            <a:off x="1155522" y="2587992"/>
            <a:ext cx="680174" cy="696992"/>
          </a:xfrm>
          <a:prstGeom prst="ellipse">
            <a:avLst/>
          </a:prstGeom>
          <a:noFill/>
          <a:ln w="539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8858AB6-463F-6CBD-E278-F4E71198FAFB}"/>
              </a:ext>
            </a:extLst>
          </p:cNvPr>
          <p:cNvCxnSpPr>
            <a:cxnSpLocks/>
          </p:cNvCxnSpPr>
          <p:nvPr/>
        </p:nvCxnSpPr>
        <p:spPr>
          <a:xfrm>
            <a:off x="1831077" y="3042934"/>
            <a:ext cx="1063858" cy="234442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5420C0D7-6E13-BD3F-F036-6745C4AF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865" y="1611846"/>
            <a:ext cx="3030926" cy="2933154"/>
          </a:xfrm>
          <a:prstGeom prst="rect">
            <a:avLst/>
          </a:prstGeom>
          <a:ln w="34925">
            <a:solidFill>
              <a:srgbClr val="00B050"/>
            </a:solidFill>
          </a:ln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3A6CE990-DE20-0AB1-3A88-F3807D8826CC}"/>
              </a:ext>
            </a:extLst>
          </p:cNvPr>
          <p:cNvSpPr/>
          <p:nvPr/>
        </p:nvSpPr>
        <p:spPr>
          <a:xfrm>
            <a:off x="6101395" y="2537934"/>
            <a:ext cx="956283" cy="936104"/>
          </a:xfrm>
          <a:prstGeom prst="ellipse">
            <a:avLst/>
          </a:prstGeom>
          <a:noFill/>
          <a:ln w="539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B09C48C-7824-DA9B-7713-8EB1428A9075}"/>
              </a:ext>
            </a:extLst>
          </p:cNvPr>
          <p:cNvCxnSpPr>
            <a:cxnSpLocks/>
          </p:cNvCxnSpPr>
          <p:nvPr/>
        </p:nvCxnSpPr>
        <p:spPr>
          <a:xfrm flipH="1" flipV="1">
            <a:off x="6876256" y="3284984"/>
            <a:ext cx="1152128" cy="503859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388A2E-7587-8248-C238-95B0F69767FA}"/>
              </a:ext>
            </a:extLst>
          </p:cNvPr>
          <p:cNvSpPr txBox="1"/>
          <p:nvPr/>
        </p:nvSpPr>
        <p:spPr>
          <a:xfrm>
            <a:off x="7788063" y="3859144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B050"/>
                </a:solidFill>
              </a:rPr>
              <a:t>- </a:t>
            </a:r>
            <a:r>
              <a:rPr lang="ko-KR" altLang="en-US" sz="1400" b="1" dirty="0">
                <a:solidFill>
                  <a:srgbClr val="00B050"/>
                </a:solidFill>
              </a:rPr>
              <a:t>교체 완료</a:t>
            </a:r>
            <a:endParaRPr lang="en-US" altLang="ko-KR" sz="1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6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8B26-EEA8-756C-5114-23C5AC89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F68824F7-B17B-F506-5B05-8358ACA39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420953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재단실과 현장 간 통로 부분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07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-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지게차의 현장 진입으로 인한 안전 사고 발생 우려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주의 표지판 높이 조정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낮춤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--&gt;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지게차 진입 원천 차단 목적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(25. 09. 18)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B0F41DF4-EC12-EAE8-68ED-20B2C320C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9360DCF-81AA-759E-6C4C-E637BB3115BE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4B5BBF7-653D-9CEB-5E61-24B3363A2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484784"/>
            <a:ext cx="4133281" cy="32403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FA74E3-8320-ECD3-A4FC-B5D2D1F2DCA9}"/>
              </a:ext>
            </a:extLst>
          </p:cNvPr>
          <p:cNvSpPr txBox="1"/>
          <p:nvPr/>
        </p:nvSpPr>
        <p:spPr>
          <a:xfrm>
            <a:off x="762573" y="2258422"/>
            <a:ext cx="344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지게차 현장 진입 우려 발생</a:t>
            </a:r>
          </a:p>
        </p:txBody>
      </p:sp>
    </p:spTree>
    <p:extLst>
      <p:ext uri="{BB962C8B-B14F-4D97-AF65-F5344CB8AC3E}">
        <p14:creationId xmlns:p14="http://schemas.microsoft.com/office/powerpoint/2010/main" val="1483877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C6A77-6B94-E933-C1BE-08E86B7D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1D85A8B9-931C-1798-70EC-BA8655088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22345"/>
              </p:ext>
            </p:extLst>
          </p:nvPr>
        </p:nvGraphicFramePr>
        <p:xfrm>
          <a:off x="255588" y="814388"/>
          <a:ext cx="8672511" cy="5614362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재단실과 현장 간 통로 부분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08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지게차 진입 하는 과정에서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예비구간 부재로 인한  안내 표지판 파손 우려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주의 표지판 높이 조정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및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설치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(1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지게차 높이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 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단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사람 높이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-&gt;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예비 진입 구간 적용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주의 강조 및 표지판 보호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(25. 09. 22)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7BA875F8-792F-44BC-0AC7-11B2D9D1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48F017-AA6A-7DF7-03BF-2519E69D6AD7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138A3B8-AA2C-AC6E-0E48-74A7AD22B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484784"/>
            <a:ext cx="4133281" cy="32403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5B086A-522B-C81B-A1FB-6D97196DED8D}"/>
              </a:ext>
            </a:extLst>
          </p:cNvPr>
          <p:cNvSpPr txBox="1"/>
          <p:nvPr/>
        </p:nvSpPr>
        <p:spPr>
          <a:xfrm>
            <a:off x="9828584" y="980728"/>
            <a:ext cx="344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지게차 현장 진입 우려 발생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9CE097-397C-21CE-D9C7-E09C3563A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434" y="1835666"/>
            <a:ext cx="2952328" cy="2601446"/>
          </a:xfrm>
          <a:prstGeom prst="rect">
            <a:avLst/>
          </a:prstGeom>
          <a:ln w="22225">
            <a:solidFill>
              <a:srgbClr val="00B05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64DA2A-23A4-77CE-035D-F707BF3F5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409" y="1515509"/>
            <a:ext cx="1438074" cy="1625459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6A4FC6-D6BC-0611-6EEA-5402D6781839}"/>
              </a:ext>
            </a:extLst>
          </p:cNvPr>
          <p:cNvSpPr txBox="1"/>
          <p:nvPr/>
        </p:nvSpPr>
        <p:spPr>
          <a:xfrm>
            <a:off x="5514752" y="442728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B050"/>
                </a:solidFill>
              </a:rPr>
              <a:t>주의 표지판 </a:t>
            </a:r>
            <a:r>
              <a:rPr lang="en-US" altLang="ko-KR" b="1" dirty="0">
                <a:solidFill>
                  <a:srgbClr val="00B050"/>
                </a:solidFill>
              </a:rPr>
              <a:t>2</a:t>
            </a:r>
            <a:r>
              <a:rPr lang="ko-KR" altLang="en-US" b="1" dirty="0">
                <a:solidFill>
                  <a:srgbClr val="00B050"/>
                </a:solidFill>
              </a:rPr>
              <a:t>개 설치</a:t>
            </a:r>
          </a:p>
        </p:txBody>
      </p:sp>
    </p:spTree>
    <p:extLst>
      <p:ext uri="{BB962C8B-B14F-4D97-AF65-F5344CB8AC3E}">
        <p14:creationId xmlns:p14="http://schemas.microsoft.com/office/powerpoint/2010/main" val="406643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AD77-614A-EE6F-B698-723B477D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BC539AE0-AF15-CA76-1A72-41AB5D05B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70144"/>
              </p:ext>
            </p:extLst>
          </p:nvPr>
        </p:nvGraphicFramePr>
        <p:xfrm>
          <a:off x="255588" y="814388"/>
          <a:ext cx="8672511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 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 남자 화장실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상향식 보일러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09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- 2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남자 화장실 안전밸브 누수 발생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--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  <a:sym typeface="Wingdings" panose="05000000000000000000" pitchFamily="2" charset="2"/>
                        </a:rPr>
                        <a:t>교체 시급 함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285750" marR="0" lvl="0" indent="-28575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부품 교체 완료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 조치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(26. 02. 03)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54D234CD-4EC5-A3F7-C1A7-BF9E006D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위험성 인자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51F9B-1979-0135-B333-4255A5E146CA}"/>
              </a:ext>
            </a:extLst>
          </p:cNvPr>
          <p:cNvSpPr txBox="1"/>
          <p:nvPr/>
        </p:nvSpPr>
        <p:spPr>
          <a:xfrm>
            <a:off x="7114024" y="3609020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B050"/>
                </a:solidFill>
              </a:rPr>
              <a:t>부품 교체 완료</a:t>
            </a:r>
            <a:endParaRPr lang="en-US" altLang="ko-KR" b="1" dirty="0">
              <a:solidFill>
                <a:srgbClr val="00B050"/>
              </a:solidFill>
            </a:endParaRPr>
          </a:p>
          <a:p>
            <a:r>
              <a:rPr lang="en-US" altLang="ko-KR" b="1" dirty="0">
                <a:solidFill>
                  <a:srgbClr val="00B050"/>
                </a:solidFill>
              </a:rPr>
              <a:t>(</a:t>
            </a:r>
            <a:r>
              <a:rPr lang="ko-KR" altLang="en-US" b="1" dirty="0">
                <a:solidFill>
                  <a:srgbClr val="00B050"/>
                </a:solidFill>
              </a:rPr>
              <a:t>안전밸브</a:t>
            </a:r>
            <a:r>
              <a:rPr lang="en-US" altLang="ko-KR" b="1" dirty="0">
                <a:solidFill>
                  <a:srgbClr val="00B050"/>
                </a:solidFill>
              </a:rPr>
              <a:t>) 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pic>
        <p:nvPicPr>
          <p:cNvPr id="6" name="그림 5" descr="실린더, 싱크대, 소화전, 배관 설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2AACF8-DBED-CF0D-A4A4-1C1F83EC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8" y="1566157"/>
            <a:ext cx="2459533" cy="2504942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0C747144-0599-6F68-C8EB-7A4696BF6B43}"/>
              </a:ext>
            </a:extLst>
          </p:cNvPr>
          <p:cNvSpPr/>
          <p:nvPr/>
        </p:nvSpPr>
        <p:spPr>
          <a:xfrm>
            <a:off x="1403648" y="3006784"/>
            <a:ext cx="864096" cy="74353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020ED82-6DA9-880B-0D33-9A086C1020B3}"/>
              </a:ext>
            </a:extLst>
          </p:cNvPr>
          <p:cNvCxnSpPr>
            <a:cxnSpLocks/>
          </p:cNvCxnSpPr>
          <p:nvPr/>
        </p:nvCxnSpPr>
        <p:spPr>
          <a:xfrm flipH="1">
            <a:off x="2267744" y="3078118"/>
            <a:ext cx="1174976" cy="129626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3D55C3-3DB3-1CDB-BA4C-41DC46F9913B}"/>
              </a:ext>
            </a:extLst>
          </p:cNvPr>
          <p:cNvSpPr txBox="1"/>
          <p:nvPr/>
        </p:nvSpPr>
        <p:spPr>
          <a:xfrm>
            <a:off x="3324817" y="2654724"/>
            <a:ext cx="126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누수발생</a:t>
            </a:r>
          </a:p>
        </p:txBody>
      </p:sp>
      <p:pic>
        <p:nvPicPr>
          <p:cNvPr id="19" name="그림 18" descr="가스, 파이프, 실린더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B748AA-E630-53BE-420C-B587B66B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667" y="1566157"/>
            <a:ext cx="2286453" cy="2448065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160449FA-40B2-8467-73DB-6C49BA349F84}"/>
              </a:ext>
            </a:extLst>
          </p:cNvPr>
          <p:cNvSpPr/>
          <p:nvPr/>
        </p:nvSpPr>
        <p:spPr>
          <a:xfrm>
            <a:off x="5532550" y="2470072"/>
            <a:ext cx="864096" cy="743535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B805E9C-B95C-6FEA-B271-17C45E30524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 flipV="1">
            <a:off x="6396646" y="2841840"/>
            <a:ext cx="1222538" cy="365904"/>
          </a:xfrm>
          <a:prstGeom prst="straightConnector1">
            <a:avLst/>
          </a:prstGeom>
          <a:ln w="254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9E361871-0A0D-1C3E-6E56-D1CA540B5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23" y="4376614"/>
            <a:ext cx="8509451" cy="44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4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0A9E-3C31-92FA-F7CD-92E478F7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4E50BDD3-587C-DB9F-D1BB-C36EDF2D6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185263"/>
              </p:ext>
            </p:extLst>
          </p:nvPr>
        </p:nvGraphicFramePr>
        <p:xfrm>
          <a:off x="255587" y="1092598"/>
          <a:ext cx="8783662" cy="5368365"/>
        </p:xfrm>
        <a:graphic>
          <a:graphicData uri="http://schemas.openxmlformats.org/drawingml/2006/table">
            <a:tbl>
              <a:tblPr/>
              <a:tblGrid>
                <a:gridCol w="138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장비명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톰슨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호기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향후 개선 내용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기대 효과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볼트 추가 고정으로 인한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면판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흔들림 방지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실제 개선 효과 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지속적인 모니터링 예정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향후 일정 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주정도 개선 효과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관찰후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추가 조치 예정 임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.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15EE00F-96F7-5160-5FAE-AB4953898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 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장비 개선 내용 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894E91-C405-F810-B437-28973317E76E}"/>
              </a:ext>
            </a:extLst>
          </p:cNvPr>
          <p:cNvCxnSpPr/>
          <p:nvPr/>
        </p:nvCxnSpPr>
        <p:spPr>
          <a:xfrm>
            <a:off x="10620672" y="755546"/>
            <a:ext cx="0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838D661-2F33-209B-8692-D118EDF44247}"/>
              </a:ext>
            </a:extLst>
          </p:cNvPr>
          <p:cNvSpPr txBox="1"/>
          <p:nvPr/>
        </p:nvSpPr>
        <p:spPr>
          <a:xfrm>
            <a:off x="6156176" y="3914472"/>
            <a:ext cx="40125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 err="1"/>
              <a:t>지스가이드</a:t>
            </a:r>
            <a:r>
              <a:rPr lang="ko-KR" altLang="en-US" sz="1400" b="1" dirty="0"/>
              <a:t> 스프링 보강예정</a:t>
            </a:r>
            <a:endParaRPr lang="en-US" altLang="ko-KR" sz="1400" b="1" dirty="0"/>
          </a:p>
          <a:p>
            <a:r>
              <a:rPr lang="en-US" altLang="ko-KR" sz="1400" b="1" dirty="0"/>
              <a:t>2. </a:t>
            </a:r>
            <a:r>
              <a:rPr lang="ko-KR" altLang="en-US" sz="1400" b="1" dirty="0" err="1"/>
              <a:t>지스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고정부</a:t>
            </a:r>
            <a:r>
              <a:rPr lang="ko-KR" altLang="en-US" sz="1400" b="1" dirty="0"/>
              <a:t> 볼트 상호연결예정</a:t>
            </a:r>
            <a:endParaRPr lang="en-US" altLang="ko-KR" sz="1400" b="1" dirty="0"/>
          </a:p>
          <a:p>
            <a:r>
              <a:rPr lang="en-US" altLang="ko-KR" sz="1400" b="1" dirty="0"/>
              <a:t>3. </a:t>
            </a:r>
            <a:r>
              <a:rPr lang="ko-KR" altLang="en-US" sz="1400" b="1" dirty="0" err="1"/>
              <a:t>지스가이드</a:t>
            </a:r>
            <a:r>
              <a:rPr lang="ko-KR" altLang="en-US" sz="1400" b="1" dirty="0"/>
              <a:t> 열처리예정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EA5E53-F7FF-4B14-EE3A-F45EE3B45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35320"/>
            <a:ext cx="3322342" cy="1327341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A4B355FA-EA4E-DCE7-2078-1F3F2C385F5C}"/>
              </a:ext>
            </a:extLst>
          </p:cNvPr>
          <p:cNvSpPr/>
          <p:nvPr/>
        </p:nvSpPr>
        <p:spPr>
          <a:xfrm>
            <a:off x="2123728" y="2711378"/>
            <a:ext cx="432048" cy="4320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D9B9AF7-498B-4FFE-38E2-2B95E6B084B4}"/>
              </a:ext>
            </a:extLst>
          </p:cNvPr>
          <p:cNvCxnSpPr/>
          <p:nvPr/>
        </p:nvCxnSpPr>
        <p:spPr>
          <a:xfrm flipH="1" flipV="1">
            <a:off x="2411760" y="3215434"/>
            <a:ext cx="432048" cy="648072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D69C75-2C95-6E0D-A077-7D9B5204BAFC}"/>
              </a:ext>
            </a:extLst>
          </p:cNvPr>
          <p:cNvSpPr txBox="1"/>
          <p:nvPr/>
        </p:nvSpPr>
        <p:spPr>
          <a:xfrm>
            <a:off x="506507" y="3851756"/>
            <a:ext cx="402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8MM </a:t>
            </a:r>
            <a:r>
              <a:rPr lang="ko-KR" altLang="en-US" dirty="0">
                <a:solidFill>
                  <a:srgbClr val="FF0000"/>
                </a:solidFill>
              </a:rPr>
              <a:t>육각 볼트 추가 </a:t>
            </a:r>
            <a:r>
              <a:rPr lang="en-US" altLang="ko-KR" dirty="0">
                <a:solidFill>
                  <a:srgbClr val="FF0000"/>
                </a:solidFill>
              </a:rPr>
              <a:t>– </a:t>
            </a:r>
            <a:r>
              <a:rPr lang="ko-KR" altLang="en-US" dirty="0" err="1">
                <a:solidFill>
                  <a:srgbClr val="FF0000"/>
                </a:solidFill>
              </a:rPr>
              <a:t>면판</a:t>
            </a:r>
            <a:r>
              <a:rPr lang="ko-KR" altLang="en-US" dirty="0">
                <a:solidFill>
                  <a:srgbClr val="FF0000"/>
                </a:solidFill>
              </a:rPr>
              <a:t> 고정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889EA8F-B1E4-3593-DC72-2D5482AAB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070282" y="606740"/>
            <a:ext cx="1357653" cy="398187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62B410-82D8-0C30-D818-06E9BE770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983454" y="3278938"/>
            <a:ext cx="932893" cy="1383455"/>
          </a:xfrm>
          <a:prstGeom prst="rect">
            <a:avLst/>
          </a:prstGeom>
          <a:ln w="25400">
            <a:solidFill>
              <a:srgbClr val="FF0000"/>
            </a:solidFill>
            <a:prstDash val="sysDot"/>
          </a:ln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B1FB1D0A-BACE-9318-8769-C13A6B19392A}"/>
              </a:ext>
            </a:extLst>
          </p:cNvPr>
          <p:cNvSpPr/>
          <p:nvPr/>
        </p:nvSpPr>
        <p:spPr>
          <a:xfrm>
            <a:off x="4758173" y="2302910"/>
            <a:ext cx="586038" cy="56017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8FFB9E6-4660-CDB6-A94D-DC64FC91311D}"/>
              </a:ext>
            </a:extLst>
          </p:cNvPr>
          <p:cNvCxnSpPr>
            <a:cxnSpLocks/>
            <a:stCxn id="19" idx="3"/>
            <a:endCxn id="20" idx="4"/>
          </p:cNvCxnSpPr>
          <p:nvPr/>
        </p:nvCxnSpPr>
        <p:spPr>
          <a:xfrm flipH="1" flipV="1">
            <a:off x="5051192" y="2863083"/>
            <a:ext cx="398709" cy="64113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906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630323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시정조치지시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산업재해조사표 제출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06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2020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년 당시 김민수 사원의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“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산업재해조사표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“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 제출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- 2020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년 김민수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“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산업재해조사표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”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첨부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(23.10.24)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시정 조치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7D6F22-1901-62AD-D512-ABCC3C50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556792"/>
            <a:ext cx="2299734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8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725567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시정조치지시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층 자동문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전동셔터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수동 개폐 가능 조치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07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 점검당시 수동 개폐여부 확인 요청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 확인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모터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구동부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자체에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수동 개폐 체인이 설치 되어 있음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(23.10.24)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시정 조치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15A8E4-7A1B-D5BF-BF53-C8B8A3D4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559806"/>
            <a:ext cx="2294629" cy="309333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39E605-4426-753B-D6C5-27BE9BF08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636" y="2729986"/>
            <a:ext cx="1939821" cy="2069707"/>
          </a:xfrm>
          <a:prstGeom prst="rect">
            <a:avLst/>
          </a:prstGeom>
          <a:ln w="190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48007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57682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시정조치지시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잉크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세척제 등 취급장소에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MSDS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비치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 점검당시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MSDS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 미 비치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MSDS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현장 비치 완료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(23.10.24)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시정 조치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78E4D9-20C1-D496-488C-4EDC16565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35826"/>
            <a:ext cx="2258127" cy="319837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FF1C79-CF9F-5601-29AB-DD08DE866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21" y="2415110"/>
            <a:ext cx="1773151" cy="2376264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751744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D304-11FC-B2CC-9524-2CD29282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504645C7-7720-8B65-1A57-C06095E360A2}"/>
              </a:ext>
            </a:extLst>
          </p:cNvPr>
          <p:cNvGraphicFramePr>
            <a:graphicFrameLocks noGrp="1"/>
          </p:cNvGraphicFramePr>
          <p:nvPr/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시정조치지시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잉크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세척제 등 취급장소에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MSDS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비치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前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 선 後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 점검당시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MSDS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 미 비치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개선내용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MSDS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 현장 비치 완료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적용일자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즉시 시정 조치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(23.10.24)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6B4CE181-125D-B56A-D81A-E1364D71A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시정 조치 개선 사항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14C70D-29B9-91B5-7069-632DA444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35826"/>
            <a:ext cx="2258127" cy="319837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1B88A0-12DE-601F-7DD8-99267C3F2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21" y="2415110"/>
            <a:ext cx="1773151" cy="2376264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572684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27C0-1379-196A-1F74-CCEDEB0A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8">
            <a:extLst>
              <a:ext uri="{FF2B5EF4-FFF2-40B4-BE49-F238E27FC236}">
                <a16:creationId xmlns:a16="http://schemas.microsoft.com/office/drawing/2014/main" id="{61FB9C7E-144B-AA05-3711-30FC8F8FE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309782"/>
              </p:ext>
            </p:extLst>
          </p:nvPr>
        </p:nvGraphicFramePr>
        <p:xfrm>
          <a:off x="255588" y="814388"/>
          <a:ext cx="8672512" cy="5368365"/>
        </p:xfrm>
        <a:graphic>
          <a:graphicData uri="http://schemas.openxmlformats.org/drawingml/2006/table">
            <a:tbl>
              <a:tblPr/>
              <a:tblGrid>
                <a:gridCol w="136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8"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현장기술지원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라벨러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Tag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미부착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및 중복 부착 불량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현장지도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 gridSpan="2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교육 이미지 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1087438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교육내용</a:t>
                      </a:r>
                    </a:p>
                  </a:txBody>
                  <a:tcPr marL="84389" marR="84389" marT="42195" marB="421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294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장비의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셋팅과정에서의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불량제거후 작업 진행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박리 가이드의 </a:t>
                      </a:r>
                      <a:r>
                        <a:rPr kumimoji="1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유수명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관리 진행 할 것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-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장비 레이블 벨트 단계에서의 재 확인 과정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반드시 확인 할 것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13">
                <a:tc gridSpan="2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문제점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라벨러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Tag </a:t>
                      </a: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미부착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및 중복 부착 불량 간헐적 발생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개선 유효성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향후 수평전개 검증을 통한 유효성 확인 예정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■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지도 교육일자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</a:t>
                      </a:r>
                    </a:p>
                    <a:p>
                      <a:pPr marL="0" marR="0" lvl="0" indent="0" algn="l" defTabSz="1087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-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2025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년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월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일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~ 20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일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양일간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16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시간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L="84389" marR="84389" marT="42195" marB="421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57A52A0-2C51-8E27-9D7C-920A0AB44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245942"/>
            <a:ext cx="8783668" cy="46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124" tIns="49062" rIns="98124" bIns="49062">
            <a:spAutoFit/>
          </a:bodyPr>
          <a:lstStyle/>
          <a:p>
            <a:pPr algn="l" defTabSz="981075" fontAlgn="b"/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&lt;</a:t>
            </a:r>
            <a:r>
              <a:rPr lang="ko-K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현장기술지원 교육 화면 </a:t>
            </a:r>
            <a:r>
              <a:rPr lang="en-US" altLang="ko-KR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&gt;</a:t>
            </a:r>
            <a:endParaRPr lang="ko-KR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7AB2D9-DE32-4C1E-CB1B-AF6704EB1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04" y="1546960"/>
            <a:ext cx="4196308" cy="3024336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4DF9C48-70F1-60E5-D813-70F35434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808" y="3212975"/>
            <a:ext cx="2103777" cy="1559615"/>
          </a:xfrm>
          <a:prstGeom prst="rect">
            <a:avLst/>
          </a:prstGeom>
          <a:ln w="158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289188723"/>
      </p:ext>
    </p:extLst>
  </p:cSld>
  <p:clrMapOvr>
    <a:masterClrMapping/>
  </p:clrMapOvr>
</p:sld>
</file>

<file path=ppt/theme/theme1.xml><?xml version="1.0" encoding="utf-8"?>
<a:theme xmlns:a="http://schemas.openxmlformats.org/drawingml/2006/main" name="IT Solutions Business Presentation Templete">
  <a:themeElements>
    <a:clrScheme name="삼성IT Solution">
      <a:dk1>
        <a:srgbClr val="262626"/>
      </a:dk1>
      <a:lt1>
        <a:srgbClr val="F2F2F2"/>
      </a:lt1>
      <a:dk2>
        <a:srgbClr val="1F497D"/>
      </a:dk2>
      <a:lt2>
        <a:srgbClr val="DEDFE4"/>
      </a:lt2>
      <a:accent1>
        <a:srgbClr val="B5B5B5"/>
      </a:accent1>
      <a:accent2>
        <a:srgbClr val="65697B"/>
      </a:accent2>
      <a:accent3>
        <a:srgbClr val="089ACE"/>
      </a:accent3>
      <a:accent4>
        <a:srgbClr val="17488A"/>
      </a:accent4>
      <a:accent5>
        <a:srgbClr val="F99613"/>
      </a:accent5>
      <a:accent6>
        <a:srgbClr val="C1D82E"/>
      </a:accent6>
      <a:hlink>
        <a:srgbClr val="0000FF"/>
      </a:hlink>
      <a:folHlink>
        <a:srgbClr val="800080"/>
      </a:folHlink>
    </a:clrScheme>
    <a:fontScheme name="삼성 IT Soluti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37608</TotalTime>
  <Words>1568</Words>
  <Application>Microsoft Office PowerPoint</Application>
  <PresentationFormat>화면 슬라이드 쇼(4:3)</PresentationFormat>
  <Paragraphs>406</Paragraphs>
  <Slides>19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맑은 고딕</vt:lpstr>
      <vt:lpstr>Arial</vt:lpstr>
      <vt:lpstr>Calibri</vt:lpstr>
      <vt:lpstr>Wingdings</vt:lpstr>
      <vt:lpstr>IT Solutions Business Presentation Templete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파워피티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양수연</dc:creator>
  <cp:lastModifiedBy>Office</cp:lastModifiedBy>
  <cp:revision>1197</cp:revision>
  <cp:lastPrinted>2025-09-22T05:50:23Z</cp:lastPrinted>
  <dcterms:created xsi:type="dcterms:W3CDTF">2010-04-20T05:01:30Z</dcterms:created>
  <dcterms:modified xsi:type="dcterms:W3CDTF">2026-02-19T00:27:45Z</dcterms:modified>
</cp:coreProperties>
</file>