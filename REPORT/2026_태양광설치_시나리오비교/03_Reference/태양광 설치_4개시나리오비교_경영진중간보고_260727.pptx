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38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D987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태양광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설치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4개 시나리오 비교 — 실측 SMP·REC 반영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자가+상계(101·120) / 전량판매(101·120) · SMP 115원·REC 74원(가중1.2) 기준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9509760" y="3108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삼화당피앤티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</a:rPr>
              <a:t>1 / 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11155680" cy="676656"/>
          </a:xfrm>
          <a:prstGeom prst="roundRect">
            <a:avLst>
              <a:gd name="adj" fmla="val 9459"/>
            </a:avLst>
          </a:prstGeom>
          <a:solidFill>
            <a:srgbClr val="16404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35024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61872" y="117043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계산</a:t>
            </a:r>
            <a:r>
              <a:rPr lang="en-US" sz="1250" b="1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14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120kW 자가+상계(안2)가 ROI 3.69년으로 최우수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전량판매는 명목수익 크나 전기요금 전액 납부·초기추가비·시장리스크 감안 필요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1956816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557784" y="204825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</a:t>
            </a:r>
            <a:r>
              <a:rPr lang="en-US" sz="95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원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2432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 </a:t>
            </a:r>
            <a:r>
              <a:rPr lang="en-US" sz="1200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실측단가</a:t>
            </a: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자료첨부</a:t>
            </a:r>
            <a:r>
              <a:rPr lang="en-US" altLang="ko-KR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19272" y="1956816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374136" y="204825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r>
              <a:rPr lang="en-US" sz="95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원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364992" y="2432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</a:t>
            </a:r>
            <a:r>
              <a:rPr lang="en-US" sz="1200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평균매도가</a:t>
            </a: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자료첨부</a:t>
            </a:r>
            <a:r>
              <a:rPr lang="en-US" altLang="ko-KR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135624" y="1956816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190488" y="204825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r>
              <a:rPr lang="en-US" sz="95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배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181344" y="2432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REC가중치(</a:t>
            </a:r>
            <a:r>
              <a:rPr lang="en-US" sz="1200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</a:t>
            </a: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옥상설치</a:t>
            </a: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951976" y="1956816"/>
            <a:ext cx="26517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9006840" y="2048256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133.1</a:t>
            </a:r>
            <a:r>
              <a:rPr lang="en-US" sz="95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원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997696" y="24323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전력량</a:t>
            </a: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절감단가</a:t>
            </a:r>
            <a:r>
              <a:rPr 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자료첨부</a:t>
            </a:r>
            <a:r>
              <a:rPr lang="en-US" altLang="ko-KR" sz="12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2798064"/>
            <a:ext cx="2724912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502920" y="2798064"/>
            <a:ext cx="2724912" cy="78638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2889504"/>
            <a:ext cx="237744" cy="23774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960120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101kW 자가+상계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49224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정부지원 · 요금절감</a:t>
            </a:r>
            <a:endParaRPr lang="en-US" sz="750" dirty="0"/>
          </a:p>
        </p:txBody>
      </p:sp>
      <p:sp>
        <p:nvSpPr>
          <p:cNvPr id="29" name="Shape 25"/>
          <p:cNvSpPr/>
          <p:nvPr/>
        </p:nvSpPr>
        <p:spPr>
          <a:xfrm>
            <a:off x="649224" y="33284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6"/>
          <p:cNvSpPr/>
          <p:nvPr/>
        </p:nvSpPr>
        <p:spPr>
          <a:xfrm>
            <a:off x="649224" y="33284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1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667512" y="3675888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자가소비+상계·이월 (판매없음)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보조금 5,316만원 수령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전기요금 21% 절감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요금인상 시 절감↑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649224" y="4828032"/>
            <a:ext cx="1207008" cy="347472"/>
          </a:xfrm>
          <a:prstGeom prst="roundRect">
            <a:avLst>
              <a:gd name="adj" fmla="val 13158"/>
            </a:avLst>
          </a:prstGeom>
          <a:solidFill>
            <a:srgbClr val="E3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649224" y="482803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5.11</a:t>
            </a:r>
            <a:endParaRPr 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1911096" y="4828032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E3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1911096" y="48280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1,504만</a:t>
            </a:r>
            <a:endParaRPr lang="en-US" sz="700" dirty="0"/>
          </a:p>
        </p:txBody>
      </p:sp>
      <p:sp>
        <p:nvSpPr>
          <p:cNvPr id="36" name="Shape 32"/>
          <p:cNvSpPr/>
          <p:nvPr/>
        </p:nvSpPr>
        <p:spPr>
          <a:xfrm>
            <a:off x="3346704" y="2798064"/>
            <a:ext cx="2724912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3346704" y="2798064"/>
            <a:ext cx="2724912" cy="786384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008" y="2889504"/>
            <a:ext cx="237744" cy="237744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803904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120kW 자가+상계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3493008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정부지원 · 요금절감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3493008" y="3328416"/>
            <a:ext cx="123444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7"/>
          <p:cNvSpPr/>
          <p:nvPr/>
        </p:nvSpPr>
        <p:spPr>
          <a:xfrm>
            <a:off x="3493008" y="33284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2 ·  </a:t>
            </a:r>
            <a:r>
              <a:rPr lang="ko-KR" altLang="en-US" sz="7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최적</a:t>
            </a:r>
            <a:endParaRPr lang="en-US" sz="700" dirty="0"/>
          </a:p>
        </p:txBody>
      </p:sp>
      <p:sp>
        <p:nvSpPr>
          <p:cNvPr id="43" name="Text 38"/>
          <p:cNvSpPr/>
          <p:nvPr/>
        </p:nvSpPr>
        <p:spPr>
          <a:xfrm>
            <a:off x="3511296" y="3675888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자가소비+상계·이월 (판매없음)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보조금 6,300만원 수령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전기요금 25% 절감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최단·리스크 최소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3493008" y="4828032"/>
            <a:ext cx="1207008" cy="347472"/>
          </a:xfrm>
          <a:prstGeom prst="roundRect">
            <a:avLst>
              <a:gd name="adj" fmla="val 13158"/>
            </a:avLst>
          </a:prstGeom>
          <a:solidFill>
            <a:srgbClr val="E3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3493008" y="482803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</a:t>
            </a:r>
            <a:endParaRPr lang="en-US" sz="1400" dirty="0"/>
          </a:p>
        </p:txBody>
      </p:sp>
      <p:sp>
        <p:nvSpPr>
          <p:cNvPr id="46" name="Shape 41"/>
          <p:cNvSpPr/>
          <p:nvPr/>
        </p:nvSpPr>
        <p:spPr>
          <a:xfrm>
            <a:off x="4754880" y="4828032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E3F1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4754880" y="48280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1,818만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6190488" y="2798064"/>
            <a:ext cx="2724912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4"/>
          <p:cNvSpPr/>
          <p:nvPr/>
        </p:nvSpPr>
        <p:spPr>
          <a:xfrm>
            <a:off x="6190488" y="2798064"/>
            <a:ext cx="2724912" cy="786384"/>
          </a:xfrm>
          <a:prstGeom prst="rect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792" y="2889504"/>
            <a:ext cx="237744" cy="237744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647688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101kW 전량판매</a:t>
            </a:r>
            <a:endParaRPr lang="en-US" sz="1050" dirty="0"/>
          </a:p>
        </p:txBody>
      </p:sp>
      <p:sp>
        <p:nvSpPr>
          <p:cNvPr id="52" name="Text 46"/>
          <p:cNvSpPr/>
          <p:nvPr/>
        </p:nvSpPr>
        <p:spPr>
          <a:xfrm>
            <a:off x="6336792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 · 100%PPA</a:t>
            </a:r>
            <a:endParaRPr lang="en-US" sz="750" dirty="0"/>
          </a:p>
        </p:txBody>
      </p:sp>
      <p:sp>
        <p:nvSpPr>
          <p:cNvPr id="53" name="Shape 47"/>
          <p:cNvSpPr/>
          <p:nvPr/>
        </p:nvSpPr>
        <p:spPr>
          <a:xfrm>
            <a:off x="6336792" y="33284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8"/>
          <p:cNvSpPr/>
          <p:nvPr/>
        </p:nvSpPr>
        <p:spPr>
          <a:xfrm>
            <a:off x="6336792" y="33284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3</a:t>
            </a:r>
            <a:endParaRPr lang="en-US" sz="700" dirty="0"/>
          </a:p>
        </p:txBody>
      </p:sp>
      <p:sp>
        <p:nvSpPr>
          <p:cNvPr id="55" name="Text 49"/>
          <p:cNvSpPr/>
          <p:nvPr/>
        </p:nvSpPr>
        <p:spPr>
          <a:xfrm>
            <a:off x="6355080" y="3675888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전량 한전판매 (SMP+REC)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발전사업허가·보조금 불가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전기요금 절감 0원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매전 204.3원/kWh</a:t>
            </a:r>
            <a:endParaRPr lang="en-US" sz="1200" dirty="0"/>
          </a:p>
        </p:txBody>
      </p:sp>
      <p:sp>
        <p:nvSpPr>
          <p:cNvPr id="56" name="Shape 50"/>
          <p:cNvSpPr/>
          <p:nvPr/>
        </p:nvSpPr>
        <p:spPr>
          <a:xfrm>
            <a:off x="6336792" y="4828032"/>
            <a:ext cx="1207008" cy="347472"/>
          </a:xfrm>
          <a:prstGeom prst="roundRect">
            <a:avLst>
              <a:gd name="adj" fmla="val 13158"/>
            </a:avLst>
          </a:prstGeom>
          <a:solidFill>
            <a:srgbClr val="ECE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1"/>
          <p:cNvSpPr/>
          <p:nvPr/>
        </p:nvSpPr>
        <p:spPr>
          <a:xfrm>
            <a:off x="6336792" y="482803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5.48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7598664" y="4828032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ECE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3"/>
          <p:cNvSpPr/>
          <p:nvPr/>
        </p:nvSpPr>
        <p:spPr>
          <a:xfrm>
            <a:off x="7598664" y="48280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2,372만</a:t>
            </a:r>
            <a:endParaRPr lang="en-US" sz="700" dirty="0"/>
          </a:p>
        </p:txBody>
      </p:sp>
      <p:sp>
        <p:nvSpPr>
          <p:cNvPr id="60" name="Shape 54"/>
          <p:cNvSpPr/>
          <p:nvPr/>
        </p:nvSpPr>
        <p:spPr>
          <a:xfrm>
            <a:off x="9034272" y="2798064"/>
            <a:ext cx="2724912" cy="2487168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5"/>
          <p:cNvSpPr/>
          <p:nvPr/>
        </p:nvSpPr>
        <p:spPr>
          <a:xfrm>
            <a:off x="9034272" y="2798064"/>
            <a:ext cx="2724912" cy="786384"/>
          </a:xfrm>
          <a:prstGeom prst="rect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0576" y="2889504"/>
            <a:ext cx="237744" cy="237744"/>
          </a:xfrm>
          <a:prstGeom prst="rect">
            <a:avLst/>
          </a:prstGeom>
        </p:spPr>
      </p:pic>
      <p:sp>
        <p:nvSpPr>
          <p:cNvPr id="63" name="Text 56"/>
          <p:cNvSpPr/>
          <p:nvPr/>
        </p:nvSpPr>
        <p:spPr>
          <a:xfrm>
            <a:off x="9491472" y="2871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120kW 전량판매</a:t>
            </a:r>
            <a:endParaRPr lang="en-US" sz="1050" dirty="0"/>
          </a:p>
        </p:txBody>
      </p:sp>
      <p:sp>
        <p:nvSpPr>
          <p:cNvPr id="64" name="Text 57"/>
          <p:cNvSpPr/>
          <p:nvPr/>
        </p:nvSpPr>
        <p:spPr>
          <a:xfrm>
            <a:off x="9180576" y="31638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 · 100%PPA</a:t>
            </a:r>
            <a:endParaRPr lang="en-US" sz="750" dirty="0"/>
          </a:p>
        </p:txBody>
      </p:sp>
      <p:sp>
        <p:nvSpPr>
          <p:cNvPr id="65" name="Shape 58"/>
          <p:cNvSpPr/>
          <p:nvPr/>
        </p:nvSpPr>
        <p:spPr>
          <a:xfrm>
            <a:off x="9180576" y="3328416"/>
            <a:ext cx="658368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59"/>
          <p:cNvSpPr/>
          <p:nvPr/>
        </p:nvSpPr>
        <p:spPr>
          <a:xfrm>
            <a:off x="9180576" y="332841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 4</a:t>
            </a:r>
            <a:endParaRPr lang="en-US" sz="700" dirty="0"/>
          </a:p>
        </p:txBody>
      </p:sp>
      <p:sp>
        <p:nvSpPr>
          <p:cNvPr id="67" name="Text 60"/>
          <p:cNvSpPr/>
          <p:nvPr/>
        </p:nvSpPr>
        <p:spPr>
          <a:xfrm>
            <a:off x="9198864" y="3675888"/>
            <a:ext cx="243230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120kW증설·전량판매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발전사업허가·보조금 불가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전기요금 절감 0원</a:t>
            </a:r>
            <a:endParaRPr lang="en-US" sz="12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연발전 157,405kWh</a:t>
            </a:r>
            <a:endParaRPr lang="en-US" sz="1200" dirty="0"/>
          </a:p>
        </p:txBody>
      </p:sp>
      <p:sp>
        <p:nvSpPr>
          <p:cNvPr id="68" name="Shape 61"/>
          <p:cNvSpPr/>
          <p:nvPr/>
        </p:nvSpPr>
        <p:spPr>
          <a:xfrm>
            <a:off x="9180576" y="4828032"/>
            <a:ext cx="1207008" cy="347472"/>
          </a:xfrm>
          <a:prstGeom prst="roundRect">
            <a:avLst>
              <a:gd name="adj" fmla="val 13158"/>
            </a:avLst>
          </a:prstGeom>
          <a:solidFill>
            <a:srgbClr val="ECE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2"/>
          <p:cNvSpPr/>
          <p:nvPr/>
        </p:nvSpPr>
        <p:spPr>
          <a:xfrm>
            <a:off x="9180576" y="4828032"/>
            <a:ext cx="1207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</a:t>
            </a:r>
            <a:r>
              <a:rPr lang="en-US" sz="13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</a:t>
            </a:r>
            <a:endParaRPr lang="en-US" sz="750" dirty="0"/>
          </a:p>
        </p:txBody>
      </p:sp>
      <p:sp>
        <p:nvSpPr>
          <p:cNvPr id="70" name="Shape 63"/>
          <p:cNvSpPr/>
          <p:nvPr/>
        </p:nvSpPr>
        <p:spPr>
          <a:xfrm>
            <a:off x="10442448" y="4828032"/>
            <a:ext cx="1170432" cy="347472"/>
          </a:xfrm>
          <a:prstGeom prst="roundRect">
            <a:avLst>
              <a:gd name="adj" fmla="val 13158"/>
            </a:avLst>
          </a:prstGeom>
          <a:solidFill>
            <a:srgbClr val="ECE8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4"/>
          <p:cNvSpPr/>
          <p:nvPr/>
        </p:nvSpPr>
        <p:spPr>
          <a:xfrm>
            <a:off x="10442448" y="48280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2,874만</a:t>
            </a:r>
            <a:endParaRPr lang="en-US" sz="700" dirty="0"/>
          </a:p>
        </p:txBody>
      </p:sp>
      <p:sp>
        <p:nvSpPr>
          <p:cNvPr id="72" name="Shape 65"/>
          <p:cNvSpPr/>
          <p:nvPr/>
        </p:nvSpPr>
        <p:spPr>
          <a:xfrm>
            <a:off x="502920" y="5413248"/>
            <a:ext cx="11155680" cy="1133856"/>
          </a:xfrm>
          <a:prstGeom prst="roundRect">
            <a:avLst>
              <a:gd name="adj" fmla="val 5882"/>
            </a:avLst>
          </a:prstGeom>
          <a:solidFill>
            <a:srgbClr val="FBF0D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742432"/>
            <a:ext cx="274320" cy="274320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1060704" y="5413248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관점 : 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안1·2는 '전기요금 절감'(비용↓),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안3·4는 '전력 판매수익'(수익↑)으로 </a:t>
            </a:r>
            <a:r>
              <a:rPr lang="en-US" sz="1400" dirty="0" err="1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성격이</a:t>
            </a:r>
            <a:r>
              <a:rPr lang="en-US" sz="14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다름</a:t>
            </a:r>
            <a:r>
              <a:rPr lang="en-US" sz="140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  </a:t>
            </a:r>
          </a:p>
          <a:p>
            <a:pPr marL="0" indent="0">
              <a:buNone/>
            </a:pPr>
            <a:r>
              <a:rPr lang="ko-KR" alt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항목 별 </a:t>
            </a:r>
            <a:r>
              <a:rPr lang="ko-KR" altLang="en-US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실요금</a:t>
            </a:r>
            <a:r>
              <a:rPr lang="ko-KR" alt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및 판매 단가는 첨부 파일 참고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(4Page </a:t>
            </a:r>
            <a:r>
              <a:rPr lang="ko-KR" alt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요금 추이 자료</a:t>
            </a:r>
            <a:r>
              <a:rPr lang="en-US" altLang="ko-KR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98578B9-CB12-4D07-76B3-38F218E7E6E0}"/>
              </a:ext>
            </a:extLst>
          </p:cNvPr>
          <p:cNvSpPr/>
          <p:nvPr/>
        </p:nvSpPr>
        <p:spPr>
          <a:xfrm>
            <a:off x="3346704" y="2752344"/>
            <a:ext cx="2706624" cy="2487168"/>
          </a:xfrm>
          <a:prstGeom prst="rect">
            <a:avLst/>
          </a:prstGeom>
          <a:solidFill>
            <a:srgbClr val="FF0000">
              <a:alpha val="0"/>
            </a:srgbClr>
          </a:solidFill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AAF344C6-778F-FBAD-1F3F-F9CD276A68CD}"/>
              </a:ext>
            </a:extLst>
          </p:cNvPr>
          <p:cNvSpPr/>
          <p:nvPr/>
        </p:nvSpPr>
        <p:spPr>
          <a:xfrm>
            <a:off x="9006840" y="2779776"/>
            <a:ext cx="2706624" cy="2487168"/>
          </a:xfrm>
          <a:prstGeom prst="rect">
            <a:avLst/>
          </a:prstGeom>
          <a:solidFill>
            <a:srgbClr val="FF0000">
              <a:alpha val="0"/>
            </a:srgbClr>
          </a:solidFill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D987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4개 시나리오 상세 비교표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공사비 1.3억 동일 · 안전관리 위탁 월10만 · 발전사업 추가운영비 반영</a:t>
            </a:r>
            <a:endParaRPr lang="en-US" sz="1400" b="1" dirty="0"/>
          </a:p>
        </p:txBody>
      </p:sp>
      <p:sp>
        <p:nvSpPr>
          <p:cNvPr id="7" name="Text 5"/>
          <p:cNvSpPr/>
          <p:nvPr/>
        </p:nvSpPr>
        <p:spPr>
          <a:xfrm>
            <a:off x="9509760" y="3108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삼화당피앤티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</a:rPr>
              <a:t>2 /4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70432"/>
            <a:ext cx="11612880" cy="530352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76072" y="117043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구분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71800" y="1170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안1. 101kW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자가+상계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57800" y="1170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안2. 120kW</a:t>
            </a:r>
            <a:endParaRPr lang="en-US" sz="9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자가+상계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43800" y="1170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안3. 101kW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전량판매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829800" y="117043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안4. 120kW</a:t>
            </a:r>
            <a:endParaRPr lang="en-US" sz="9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전량판매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1700784"/>
            <a:ext cx="11612880" cy="321869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576072" y="1700784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용량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2971800" y="170078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101.265 kW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257800" y="170078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kW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7543800" y="170078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101.265 kW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829800" y="170078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kW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2022653"/>
            <a:ext cx="11612880" cy="321869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76072" y="2022653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발전량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2971800" y="202265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132,830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5257800" y="202265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157,405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543800" y="202265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132,830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9829800" y="202265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157,405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02920" y="2344522"/>
            <a:ext cx="11612880" cy="321869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576072" y="2344522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사업 형태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2971800" y="234452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5257800" y="234452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</a:t>
            </a:r>
            <a:endParaRPr lang="en-US" sz="880" dirty="0"/>
          </a:p>
        </p:txBody>
      </p:sp>
      <p:sp>
        <p:nvSpPr>
          <p:cNvPr id="31" name="Text 29"/>
          <p:cNvSpPr/>
          <p:nvPr/>
        </p:nvSpPr>
        <p:spPr>
          <a:xfrm>
            <a:off x="7543800" y="234452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9829800" y="234452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02920" y="2666390"/>
            <a:ext cx="11612880" cy="321869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576072" y="2666390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 보조금</a:t>
            </a:r>
            <a:endParaRPr lang="en-US" sz="880" dirty="0"/>
          </a:p>
        </p:txBody>
      </p:sp>
      <p:sp>
        <p:nvSpPr>
          <p:cNvPr id="35" name="Text 33"/>
          <p:cNvSpPr/>
          <p:nvPr/>
        </p:nvSpPr>
        <p:spPr>
          <a:xfrm>
            <a:off x="2971800" y="266639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5,316만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5257800" y="266639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6,300만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7543800" y="266639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880" dirty="0"/>
          </a:p>
        </p:txBody>
      </p:sp>
      <p:sp>
        <p:nvSpPr>
          <p:cNvPr id="38" name="Text 36"/>
          <p:cNvSpPr/>
          <p:nvPr/>
        </p:nvSpPr>
        <p:spPr>
          <a:xfrm>
            <a:off x="9829800" y="266639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없음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02920" y="2988259"/>
            <a:ext cx="11612880" cy="321869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76072" y="2988259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자부담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2971800" y="2988259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7,684만</a:t>
            </a:r>
            <a:endParaRPr lang="en-US" sz="880" dirty="0"/>
          </a:p>
        </p:txBody>
      </p:sp>
      <p:sp>
        <p:nvSpPr>
          <p:cNvPr id="42" name="Text 40"/>
          <p:cNvSpPr/>
          <p:nvPr/>
        </p:nvSpPr>
        <p:spPr>
          <a:xfrm>
            <a:off x="5257800" y="2988259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6,700만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7543800" y="2988259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1억3,000만</a:t>
            </a:r>
            <a:endParaRPr lang="en-US" sz="880" dirty="0"/>
          </a:p>
        </p:txBody>
      </p:sp>
      <p:sp>
        <p:nvSpPr>
          <p:cNvPr id="44" name="Text 42"/>
          <p:cNvSpPr/>
          <p:nvPr/>
        </p:nvSpPr>
        <p:spPr>
          <a:xfrm>
            <a:off x="9829800" y="2988259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1억3,000만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02920" y="3310128"/>
            <a:ext cx="11612880" cy="321869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576072" y="3310128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매전 단가</a:t>
            </a:r>
            <a:endParaRPr lang="en-US" sz="880" dirty="0"/>
          </a:p>
        </p:txBody>
      </p:sp>
      <p:sp>
        <p:nvSpPr>
          <p:cNvPr id="47" name="Text 45"/>
          <p:cNvSpPr/>
          <p:nvPr/>
        </p:nvSpPr>
        <p:spPr>
          <a:xfrm>
            <a:off x="2971800" y="3310128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자가소비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257800" y="3310128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자가소비</a:t>
            </a:r>
            <a:endParaRPr lang="en-US" sz="880" dirty="0"/>
          </a:p>
        </p:txBody>
      </p:sp>
      <p:sp>
        <p:nvSpPr>
          <p:cNvPr id="49" name="Text 47"/>
          <p:cNvSpPr/>
          <p:nvPr/>
        </p:nvSpPr>
        <p:spPr>
          <a:xfrm>
            <a:off x="7543800" y="3310128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204.3원</a:t>
            </a:r>
            <a:endParaRPr lang="en-US" sz="880" dirty="0"/>
          </a:p>
        </p:txBody>
      </p:sp>
      <p:sp>
        <p:nvSpPr>
          <p:cNvPr id="50" name="Text 48"/>
          <p:cNvSpPr/>
          <p:nvPr/>
        </p:nvSpPr>
        <p:spPr>
          <a:xfrm>
            <a:off x="9829800" y="3310128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204.3원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02920" y="3631997"/>
            <a:ext cx="11612880" cy="321869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50"/>
          <p:cNvSpPr/>
          <p:nvPr/>
        </p:nvSpPr>
        <p:spPr>
          <a:xfrm>
            <a:off x="576072" y="3631997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전기요금 절감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2971800" y="3631997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17,662천원</a:t>
            </a:r>
            <a:endParaRPr lang="en-US" sz="880" dirty="0"/>
          </a:p>
        </p:txBody>
      </p:sp>
      <p:sp>
        <p:nvSpPr>
          <p:cNvPr id="54" name="Text 52"/>
          <p:cNvSpPr/>
          <p:nvPr/>
        </p:nvSpPr>
        <p:spPr>
          <a:xfrm>
            <a:off x="5257800" y="3631997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20,802천원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7543800" y="3631997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0원</a:t>
            </a:r>
            <a:endParaRPr lang="en-US" sz="880" dirty="0"/>
          </a:p>
        </p:txBody>
      </p:sp>
      <p:sp>
        <p:nvSpPr>
          <p:cNvPr id="56" name="Text 54"/>
          <p:cNvSpPr/>
          <p:nvPr/>
        </p:nvSpPr>
        <p:spPr>
          <a:xfrm>
            <a:off x="9829800" y="3631997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0원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02920" y="3953866"/>
            <a:ext cx="11612880" cy="321869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576072" y="3953866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전력 판매수익</a:t>
            </a:r>
            <a:endParaRPr lang="en-US" sz="880" dirty="0"/>
          </a:p>
        </p:txBody>
      </p:sp>
      <p:sp>
        <p:nvSpPr>
          <p:cNvPr id="59" name="Text 57"/>
          <p:cNvSpPr/>
          <p:nvPr/>
        </p:nvSpPr>
        <p:spPr>
          <a:xfrm>
            <a:off x="2971800" y="3953866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0원</a:t>
            </a:r>
            <a:endParaRPr lang="en-US" sz="880" dirty="0"/>
          </a:p>
        </p:txBody>
      </p:sp>
      <p:sp>
        <p:nvSpPr>
          <p:cNvPr id="60" name="Text 58"/>
          <p:cNvSpPr/>
          <p:nvPr/>
        </p:nvSpPr>
        <p:spPr>
          <a:xfrm>
            <a:off x="5257800" y="3953866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0원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7543800" y="3953866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27,143천원</a:t>
            </a:r>
            <a:endParaRPr lang="en-US" sz="880" dirty="0"/>
          </a:p>
        </p:txBody>
      </p:sp>
      <p:sp>
        <p:nvSpPr>
          <p:cNvPr id="62" name="Text 60"/>
          <p:cNvSpPr/>
          <p:nvPr/>
        </p:nvSpPr>
        <p:spPr>
          <a:xfrm>
            <a:off x="9829800" y="3953866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32,165천원</a:t>
            </a:r>
            <a:endParaRPr lang="en-US" sz="880" dirty="0"/>
          </a:p>
        </p:txBody>
      </p:sp>
      <p:sp>
        <p:nvSpPr>
          <p:cNvPr id="63" name="Shape 61"/>
          <p:cNvSpPr/>
          <p:nvPr/>
        </p:nvSpPr>
        <p:spPr>
          <a:xfrm>
            <a:off x="502920" y="4275734"/>
            <a:ext cx="11612880" cy="321869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2"/>
          <p:cNvSpPr/>
          <p:nvPr/>
        </p:nvSpPr>
        <p:spPr>
          <a:xfrm>
            <a:off x="576072" y="4275734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운영비 차감</a:t>
            </a:r>
            <a:endParaRPr lang="en-US" sz="880" dirty="0"/>
          </a:p>
        </p:txBody>
      </p:sp>
      <p:sp>
        <p:nvSpPr>
          <p:cNvPr id="65" name="Text 63"/>
          <p:cNvSpPr/>
          <p:nvPr/>
        </p:nvSpPr>
        <p:spPr>
          <a:xfrm>
            <a:off x="2971800" y="427573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−1,421천원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5257800" y="427573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−2,621천원</a:t>
            </a:r>
            <a:endParaRPr lang="en-US" sz="880" dirty="0"/>
          </a:p>
        </p:txBody>
      </p:sp>
      <p:sp>
        <p:nvSpPr>
          <p:cNvPr id="67" name="Text 65"/>
          <p:cNvSpPr/>
          <p:nvPr/>
        </p:nvSpPr>
        <p:spPr>
          <a:xfrm>
            <a:off x="7543800" y="427573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−3,421천원</a:t>
            </a:r>
            <a:endParaRPr lang="en-US" sz="880" dirty="0"/>
          </a:p>
        </p:txBody>
      </p:sp>
      <p:sp>
        <p:nvSpPr>
          <p:cNvPr id="68" name="Text 66"/>
          <p:cNvSpPr/>
          <p:nvPr/>
        </p:nvSpPr>
        <p:spPr>
          <a:xfrm>
            <a:off x="9829800" y="4275734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−3,421천원</a:t>
            </a:r>
            <a:endParaRPr lang="en-US" sz="880" dirty="0"/>
          </a:p>
        </p:txBody>
      </p:sp>
      <p:sp>
        <p:nvSpPr>
          <p:cNvPr id="69" name="Shape 67"/>
          <p:cNvSpPr/>
          <p:nvPr/>
        </p:nvSpPr>
        <p:spPr>
          <a:xfrm>
            <a:off x="502920" y="4597603"/>
            <a:ext cx="11612880" cy="321869"/>
          </a:xfrm>
          <a:prstGeom prst="rect">
            <a:avLst/>
          </a:prstGeom>
          <a:solidFill>
            <a:srgbClr val="E3F1F2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76072" y="4597603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순수익</a:t>
            </a:r>
            <a:endParaRPr lang="en-US" sz="880" dirty="0"/>
          </a:p>
        </p:txBody>
      </p:sp>
      <p:sp>
        <p:nvSpPr>
          <p:cNvPr id="71" name="Text 69"/>
          <p:cNvSpPr/>
          <p:nvPr/>
        </p:nvSpPr>
        <p:spPr>
          <a:xfrm>
            <a:off x="2971800" y="459760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15,041천원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5257800" y="459760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18,181천원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543800" y="459760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23,722천원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9829800" y="4597603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28,744천원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502920" y="4919472"/>
            <a:ext cx="11612880" cy="321869"/>
          </a:xfrm>
          <a:prstGeom prst="rect">
            <a:avLst/>
          </a:prstGeom>
          <a:solidFill>
            <a:srgbClr val="FBF0DC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4"/>
          <p:cNvSpPr/>
          <p:nvPr/>
        </p:nvSpPr>
        <p:spPr>
          <a:xfrm>
            <a:off x="576072" y="4919472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2971800" y="491947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5.11년</a:t>
            </a:r>
            <a:endParaRPr lang="en-US" sz="1400" dirty="0"/>
          </a:p>
        </p:txBody>
      </p:sp>
      <p:sp>
        <p:nvSpPr>
          <p:cNvPr id="78" name="Text 76"/>
          <p:cNvSpPr/>
          <p:nvPr/>
        </p:nvSpPr>
        <p:spPr>
          <a:xfrm>
            <a:off x="5257800" y="491947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3.69년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7543800" y="491947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5.48년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9829800" y="4919472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4.52년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502920" y="5241341"/>
            <a:ext cx="11612880" cy="321869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576072" y="5241341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20년 순이익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2971800" y="5241341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2억2,397만</a:t>
            </a:r>
            <a:endParaRPr lang="en-US" sz="880" dirty="0"/>
          </a:p>
        </p:txBody>
      </p:sp>
      <p:sp>
        <p:nvSpPr>
          <p:cNvPr id="84" name="Text 82"/>
          <p:cNvSpPr/>
          <p:nvPr/>
        </p:nvSpPr>
        <p:spPr>
          <a:xfrm>
            <a:off x="5257800" y="5241341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2억9,663만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7543800" y="5241341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3억4,445만</a:t>
            </a:r>
            <a:endParaRPr lang="en-US" sz="880" dirty="0"/>
          </a:p>
        </p:txBody>
      </p:sp>
      <p:sp>
        <p:nvSpPr>
          <p:cNvPr id="86" name="Text 84"/>
          <p:cNvSpPr/>
          <p:nvPr/>
        </p:nvSpPr>
        <p:spPr>
          <a:xfrm>
            <a:off x="9829800" y="5241341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4억4,489만</a:t>
            </a:r>
            <a:endParaRPr lang="en-US" sz="880" dirty="0"/>
          </a:p>
        </p:txBody>
      </p:sp>
      <p:sp>
        <p:nvSpPr>
          <p:cNvPr id="87" name="Shape 85"/>
          <p:cNvSpPr/>
          <p:nvPr/>
        </p:nvSpPr>
        <p:spPr>
          <a:xfrm>
            <a:off x="502920" y="5563210"/>
            <a:ext cx="11612880" cy="321869"/>
          </a:xfrm>
          <a:prstGeom prst="rect">
            <a:avLst/>
          </a:prstGeom>
          <a:solidFill>
            <a:srgbClr val="FBE8E2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576072" y="5563210"/>
            <a:ext cx="2395728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전기요금 별도부담</a:t>
            </a:r>
            <a:endParaRPr lang="en-US" sz="880" dirty="0"/>
          </a:p>
        </p:txBody>
      </p:sp>
      <p:sp>
        <p:nvSpPr>
          <p:cNvPr id="89" name="Text 87"/>
          <p:cNvSpPr/>
          <p:nvPr/>
        </p:nvSpPr>
        <p:spPr>
          <a:xfrm>
            <a:off x="2971800" y="556321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절감</a:t>
            </a:r>
            <a:endParaRPr lang="en-US" sz="880" dirty="0"/>
          </a:p>
        </p:txBody>
      </p:sp>
      <p:sp>
        <p:nvSpPr>
          <p:cNvPr id="90" name="Text 88"/>
          <p:cNvSpPr/>
          <p:nvPr/>
        </p:nvSpPr>
        <p:spPr>
          <a:xfrm>
            <a:off x="5257800" y="556321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절감</a:t>
            </a:r>
            <a:endParaRPr lang="en-US" sz="880" dirty="0"/>
          </a:p>
        </p:txBody>
      </p:sp>
      <p:sp>
        <p:nvSpPr>
          <p:cNvPr id="91" name="Text 89"/>
          <p:cNvSpPr/>
          <p:nvPr/>
        </p:nvSpPr>
        <p:spPr>
          <a:xfrm>
            <a:off x="7543800" y="556321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B3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8,479만 계속</a:t>
            </a:r>
            <a:endParaRPr lang="en-US" sz="880" dirty="0"/>
          </a:p>
        </p:txBody>
      </p:sp>
      <p:sp>
        <p:nvSpPr>
          <p:cNvPr id="92" name="Text 90"/>
          <p:cNvSpPr/>
          <p:nvPr/>
        </p:nvSpPr>
        <p:spPr>
          <a:xfrm>
            <a:off x="9829800" y="5563210"/>
            <a:ext cx="2286000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B3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8,479만 계속</a:t>
            </a:r>
            <a:endParaRPr lang="en-US" sz="880" dirty="0"/>
          </a:p>
        </p:txBody>
      </p:sp>
      <p:sp>
        <p:nvSpPr>
          <p:cNvPr id="93" name="Text 91"/>
          <p:cNvSpPr/>
          <p:nvPr/>
        </p:nvSpPr>
        <p:spPr>
          <a:xfrm>
            <a:off x="502920" y="6060643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단위 kWh·원 · REC 가중치 1.2(</a:t>
            </a:r>
            <a:r>
              <a:rPr lang="en-US" sz="1400" b="1" i="1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</a:t>
            </a:r>
            <a:r>
              <a:rPr lang="en-US" sz="14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</a:t>
            </a:r>
            <a:r>
              <a:rPr lang="en-US" sz="14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4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옥상 설치 가중치</a:t>
            </a:r>
            <a:r>
              <a:rPr lang="en-US" altLang="ko-KR" sz="14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4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100kW~3MW 현행) </a:t>
            </a:r>
            <a:r>
              <a:rPr lang="en-US" sz="1400" b="1" i="1" dirty="0" err="1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</a:t>
            </a:r>
            <a:endParaRPr lang="en-US" sz="1400" b="1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46B59134-7739-AE02-7549-7844799A7A74}"/>
              </a:ext>
            </a:extLst>
          </p:cNvPr>
          <p:cNvSpPr/>
          <p:nvPr/>
        </p:nvSpPr>
        <p:spPr>
          <a:xfrm>
            <a:off x="5573776" y="1133856"/>
            <a:ext cx="1727201" cy="4696358"/>
          </a:xfrm>
          <a:prstGeom prst="rect">
            <a:avLst/>
          </a:prstGeom>
          <a:solidFill>
            <a:srgbClr val="FF0000">
              <a:alpha val="0"/>
            </a:srgbClr>
          </a:solidFill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8080B78F-659B-4F8B-1551-C01969A6B7E4}"/>
              </a:ext>
            </a:extLst>
          </p:cNvPr>
          <p:cNvSpPr/>
          <p:nvPr/>
        </p:nvSpPr>
        <p:spPr>
          <a:xfrm>
            <a:off x="9961879" y="1199694"/>
            <a:ext cx="1727201" cy="4696358"/>
          </a:xfrm>
          <a:prstGeom prst="rect">
            <a:avLst/>
          </a:prstGeom>
          <a:solidFill>
            <a:srgbClr val="FF0000">
              <a:alpha val="0"/>
            </a:srgbClr>
          </a:solidFill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D987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CONNECTION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전량판매(발전사업) 계통연계 절차 및 비용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안2·안3 진행 시 추가되는 한전 공사 프로세스 · 행정비용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0" y="3108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삼화당피앤티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</a:rPr>
              <a:t>3 /4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ECE8F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32588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2416" y="11887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전량판매는 '발전사업'이므로 자가용과 </a:t>
            </a:r>
            <a:r>
              <a:rPr lang="en-US" sz="1200" b="1" dirty="0" err="1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절차가</a:t>
            </a:r>
            <a:r>
              <a:rPr 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다</a:t>
            </a:r>
            <a:r>
              <a:rPr lang="ko-KR" altLang="en-US" sz="1200" b="1" dirty="0" err="1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름</a:t>
            </a:r>
            <a:r>
              <a:rPr lang="ko-KR" alt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----</a:t>
            </a:r>
            <a:r>
              <a:rPr 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   </a:t>
            </a:r>
            <a:r>
              <a:rPr lang="en-US" sz="1200" dirty="0" err="1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발전사업허가</a:t>
            </a:r>
            <a:r>
              <a:rPr lang="en-US" sz="1200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취득 + 별도 계통연계 계약 + 상업운전 개시 </a:t>
            </a:r>
            <a:r>
              <a:rPr lang="en-US" sz="1200" dirty="0" err="1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신고</a:t>
            </a:r>
            <a:r>
              <a:rPr lang="en-US" sz="1200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</a:t>
            </a:r>
            <a:r>
              <a:rPr lang="en-US" sz="1200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통상 </a:t>
            </a:r>
            <a:r>
              <a:rPr lang="en-US" altLang="ko-KR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ko-KR" alt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개월 </a:t>
            </a:r>
            <a:r>
              <a:rPr lang="en-US" altLang="ko-KR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6</a:t>
            </a:r>
            <a:r>
              <a:rPr lang="ko-KR" altLang="en-US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개월 정도 소요 됨</a:t>
            </a:r>
            <a:r>
              <a:rPr lang="en-US" altLang="ko-KR" sz="1200" b="1" dirty="0">
                <a:solidFill>
                  <a:srgbClr val="3D32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b="1" dirty="0"/>
          </a:p>
        </p:txBody>
      </p:sp>
      <p:sp>
        <p:nvSpPr>
          <p:cNvPr id="12" name="Text 9"/>
          <p:cNvSpPr/>
          <p:nvPr/>
        </p:nvSpPr>
        <p:spPr>
          <a:xfrm>
            <a:off x="502920" y="1883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계통연계 프로세스 (발전사업)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2231136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57784" y="228600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발전사업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허가 취득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57784" y="26883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지자체(3MW이하)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용량따라 시·도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2249424" y="25054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32304" y="2231136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2487168" y="228600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한전 계통연계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신청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487168" y="26883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연계용량 검토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(선로 여유)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4178808" y="25054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61688" y="2231136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4416552" y="228600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접속공사비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산정·납부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416552" y="26883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표준시설부담금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(1MW이하)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108192" y="25054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291072" y="2231136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6345936" y="228600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공사계획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신고·시공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345936" y="26883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한전 시공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발주·완료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8037576" y="25054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220456" y="2231136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8275320" y="228600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사용전검사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275320" y="26883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전기안전공사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합격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9966960" y="2505456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8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149840" y="2231136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5B4B8A"/>
          </a:solidFill>
          <a:ln w="12700">
            <a:solidFill>
              <a:srgbClr val="5B4B8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1"/>
          <p:cNvSpPr/>
          <p:nvPr/>
        </p:nvSpPr>
        <p:spPr>
          <a:xfrm>
            <a:off x="10204704" y="228600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상업운전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개시·RPS등록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10204704" y="2688336"/>
            <a:ext cx="1627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발급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E6E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502920" y="3310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발전 사업자 진행 시 </a:t>
            </a:r>
            <a:r>
              <a:rPr lang="en-US" sz="1300" b="1" dirty="0" err="1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추가</a:t>
            </a:r>
            <a:r>
              <a:rPr lang="en-US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dirty="0" err="1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비용</a:t>
            </a:r>
            <a:r>
              <a:rPr lang="en-US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ko-KR" altLang="en-US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예상치</a:t>
            </a:r>
            <a:r>
              <a:rPr lang="en-US" altLang="ko-KR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502920" y="3657600"/>
            <a:ext cx="5532120" cy="329184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594360" y="365760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항목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3246120" y="3657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663440" y="3657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비고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502920" y="3986784"/>
            <a:ext cx="5532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/>
          <p:nvPr/>
        </p:nvSpPr>
        <p:spPr>
          <a:xfrm>
            <a:off x="594360" y="39867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한전 계통연계비 (표준시설부담금)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3246120" y="39867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1,000~1,200만원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4663440" y="3986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FF0000"/>
                </a:solidFill>
              </a:rPr>
              <a:t>설치 시공사 통해 대행 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45" name="Shape 42"/>
          <p:cNvSpPr/>
          <p:nvPr/>
        </p:nvSpPr>
        <p:spPr>
          <a:xfrm>
            <a:off x="502920" y="4352544"/>
            <a:ext cx="5532120" cy="365760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594360" y="435254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발전사업허가·인허가</a:t>
            </a:r>
            <a:endParaRPr lang="en-US" sz="830" dirty="0"/>
          </a:p>
        </p:txBody>
      </p:sp>
      <p:sp>
        <p:nvSpPr>
          <p:cNvPr id="47" name="Text 44"/>
          <p:cNvSpPr/>
          <p:nvPr/>
        </p:nvSpPr>
        <p:spPr>
          <a:xfrm>
            <a:off x="3246120" y="43525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200~400만원</a:t>
            </a:r>
            <a:endParaRPr lang="en-US" sz="830" dirty="0"/>
          </a:p>
        </p:txBody>
      </p:sp>
      <p:sp>
        <p:nvSpPr>
          <p:cNvPr id="48" name="Text 45"/>
          <p:cNvSpPr/>
          <p:nvPr/>
        </p:nvSpPr>
        <p:spPr>
          <a:xfrm>
            <a:off x="4663440" y="4352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시공사 통해 대행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49" name="Shape 46"/>
          <p:cNvSpPr/>
          <p:nvPr/>
        </p:nvSpPr>
        <p:spPr>
          <a:xfrm>
            <a:off x="502920" y="4718304"/>
            <a:ext cx="5532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7"/>
          <p:cNvSpPr/>
          <p:nvPr/>
        </p:nvSpPr>
        <p:spPr>
          <a:xfrm>
            <a:off x="594360" y="47183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설계·감리비</a:t>
            </a:r>
            <a:endParaRPr lang="en-US" sz="830" dirty="0"/>
          </a:p>
        </p:txBody>
      </p:sp>
      <p:sp>
        <p:nvSpPr>
          <p:cNvPr id="51" name="Text 48"/>
          <p:cNvSpPr/>
          <p:nvPr/>
        </p:nvSpPr>
        <p:spPr>
          <a:xfrm>
            <a:off x="3246120" y="471830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300~500만원</a:t>
            </a:r>
            <a:endParaRPr lang="en-US" sz="830" dirty="0"/>
          </a:p>
        </p:txBody>
      </p:sp>
      <p:sp>
        <p:nvSpPr>
          <p:cNvPr id="52" name="Text 49"/>
          <p:cNvSpPr/>
          <p:nvPr/>
        </p:nvSpPr>
        <p:spPr>
          <a:xfrm>
            <a:off x="4663440" y="471830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설치 시공사 통해 대행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3" name="Shape 50"/>
          <p:cNvSpPr/>
          <p:nvPr/>
        </p:nvSpPr>
        <p:spPr>
          <a:xfrm>
            <a:off x="502920" y="5084064"/>
            <a:ext cx="5532120" cy="365760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/>
          <p:nvPr/>
        </p:nvSpPr>
        <p:spPr>
          <a:xfrm>
            <a:off x="594360" y="50840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계기설치비 (CT 계량기)</a:t>
            </a:r>
            <a:endParaRPr lang="en-US" sz="830" dirty="0"/>
          </a:p>
        </p:txBody>
      </p:sp>
      <p:sp>
        <p:nvSpPr>
          <p:cNvPr id="55" name="Text 52"/>
          <p:cNvSpPr/>
          <p:nvPr/>
        </p:nvSpPr>
        <p:spPr>
          <a:xfrm>
            <a:off x="3246120" y="508406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8~36만원</a:t>
            </a:r>
            <a:endParaRPr lang="en-US" sz="830" dirty="0"/>
          </a:p>
        </p:txBody>
      </p:sp>
      <p:sp>
        <p:nvSpPr>
          <p:cNvPr id="56" name="Text 53"/>
          <p:cNvSpPr/>
          <p:nvPr/>
        </p:nvSpPr>
        <p:spPr>
          <a:xfrm>
            <a:off x="4663440" y="50840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설치 시공사 통해 대행 </a:t>
            </a:r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57" name="Shape 54"/>
          <p:cNvSpPr/>
          <p:nvPr/>
        </p:nvSpPr>
        <p:spPr>
          <a:xfrm>
            <a:off x="502920" y="5449824"/>
            <a:ext cx="553212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5"/>
          <p:cNvSpPr/>
          <p:nvPr/>
        </p:nvSpPr>
        <p:spPr>
          <a:xfrm>
            <a:off x="594360" y="54498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3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연간 추가운영비</a:t>
            </a:r>
            <a:endParaRPr lang="en-US" sz="830" dirty="0"/>
          </a:p>
        </p:txBody>
      </p:sp>
      <p:sp>
        <p:nvSpPr>
          <p:cNvPr id="59" name="Text 56"/>
          <p:cNvSpPr/>
          <p:nvPr/>
        </p:nvSpPr>
        <p:spPr>
          <a:xfrm>
            <a:off x="3246120" y="544982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80만원/년</a:t>
            </a:r>
            <a:endParaRPr lang="en-US" sz="830" dirty="0"/>
          </a:p>
        </p:txBody>
      </p:sp>
      <p:sp>
        <p:nvSpPr>
          <p:cNvPr id="60" name="Text 57"/>
          <p:cNvSpPr/>
          <p:nvPr/>
        </p:nvSpPr>
        <p:spPr>
          <a:xfrm>
            <a:off x="4663440" y="544982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보험·세무·회계분리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502920" y="5815584"/>
            <a:ext cx="5532120" cy="365760"/>
          </a:xfrm>
          <a:prstGeom prst="rect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594360" y="5815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추가비용 합계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3246120" y="58155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1,500~2,100만원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6355080" y="3310128"/>
            <a:ext cx="576072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2"/>
          <p:cNvSpPr/>
          <p:nvPr/>
        </p:nvSpPr>
        <p:spPr>
          <a:xfrm>
            <a:off x="6355080" y="3310128"/>
            <a:ext cx="5760720" cy="420624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6537960" y="3310128"/>
            <a:ext cx="5394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전량판매 진행 시 유의사항</a:t>
            </a:r>
            <a:endParaRPr lang="en-US" sz="1150" dirty="0"/>
          </a:p>
        </p:txBody>
      </p:sp>
      <p:sp>
        <p:nvSpPr>
          <p:cNvPr id="67" name="Text 64"/>
          <p:cNvSpPr/>
          <p:nvPr/>
        </p:nvSpPr>
        <p:spPr>
          <a:xfrm>
            <a:off x="6565392" y="3858768"/>
            <a:ext cx="5349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B3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추가비 1,500~2,100만원 → 위 ROI에 </a:t>
            </a:r>
            <a:r>
              <a:rPr lang="en-US" sz="1200" b="1" dirty="0" err="1">
                <a:solidFill>
                  <a:srgbClr val="B3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미반영</a:t>
            </a:r>
            <a:r>
              <a:rPr lang="en-US" sz="1200" b="1" dirty="0">
                <a:solidFill>
                  <a:srgbClr val="B3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발전사업허가 시 전기요금 8,479만원 전액 계속 납부 (자가소비 없음)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SMP·REC 시장가 변동 리스크 20년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노출</a:t>
            </a:r>
            <a:endParaRPr lang="en-US" sz="1200" b="1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800"/>
              </a:spcAft>
              <a:buSzPct val="100000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---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(첨부 SMP는 2022년 340원→현재 115원, 변동 큼)</a:t>
            </a:r>
            <a:endParaRPr lang="en-US" sz="1200" b="1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가중치 정책 변동 가능 (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건물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발전사업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옥상 설치</a:t>
            </a:r>
            <a:r>
              <a:rPr lang="en-US" altLang="ko-KR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1.5→1.2 하향 전례)</a:t>
            </a:r>
            <a:endParaRPr lang="en-US" sz="1200" b="1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계통 여유용량 부족 시 연계 지연·거부 가능 → </a:t>
            </a:r>
            <a:r>
              <a:rPr lang="en-US" sz="12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한전</a:t>
            </a: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사전</a:t>
            </a: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</a:t>
            </a:r>
            <a:r>
              <a:rPr 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중에 있습니다</a:t>
            </a:r>
            <a:r>
              <a:rPr lang="en-US" altLang="ko-KR" sz="1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endParaRPr lang="en-US" sz="1200" b="1" dirty="0">
              <a:solidFill>
                <a:srgbClr val="FF0000"/>
              </a:solidFill>
            </a:endParaRPr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 본업과 별도 회계·세무 관리 필요</a:t>
            </a:r>
            <a:endParaRPr lang="en-US" sz="1200" dirty="0"/>
          </a:p>
        </p:txBody>
      </p:sp>
      <p:sp>
        <p:nvSpPr>
          <p:cNvPr id="69" name="Text 91">
            <a:extLst>
              <a:ext uri="{FF2B5EF4-FFF2-40B4-BE49-F238E27FC236}">
                <a16:creationId xmlns:a16="http://schemas.microsoft.com/office/drawing/2014/main" id="{2B91C717-6EB2-8763-6B6C-C06811B5F63D}"/>
              </a:ext>
            </a:extLst>
          </p:cNvPr>
          <p:cNvSpPr/>
          <p:nvPr/>
        </p:nvSpPr>
        <p:spPr>
          <a:xfrm>
            <a:off x="448056" y="6411625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 </a:t>
            </a:r>
            <a:r>
              <a:rPr lang="ko-KR" alt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한전 계통 가능 여부를 확인 중에 있습니다</a:t>
            </a:r>
            <a:r>
              <a:rPr lang="en-US" altLang="ko-KR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( </a:t>
            </a:r>
            <a:r>
              <a:rPr lang="ko-KR" alt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용량 및 </a:t>
            </a:r>
            <a:r>
              <a:rPr lang="ko-KR" altLang="en-US" sz="1600" b="1" i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지중전선로</a:t>
            </a:r>
            <a:r>
              <a:rPr lang="ko-KR" altLang="en-US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공사 가능 여부 확인 중</a:t>
            </a:r>
            <a:r>
              <a:rPr lang="en-US" altLang="ko-KR" sz="16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endParaRPr lang="en-US" sz="16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24128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024128"/>
          </a:xfrm>
          <a:prstGeom prst="rect">
            <a:avLst/>
          </a:prstGeom>
          <a:solidFill>
            <a:srgbClr val="D987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TREND ANALYSIS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347472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단가 추이 분석 — </a:t>
            </a:r>
            <a:r>
              <a:rPr lang="en-US" sz="21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SMP·REC·산업용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저압 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요금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502920" y="74980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C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 장기추이 반영 · 요금 우상향 vs SMP 변동성 · 방식별 20년 영향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509760" y="3108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삼화당피앤티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064240" y="6492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75"/>
                </a:solidFill>
              </a:rPr>
              <a:t>4 /4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7530" y="1188720"/>
            <a:ext cx="11155680" cy="566928"/>
          </a:xfrm>
          <a:prstGeom prst="roundRect">
            <a:avLst>
              <a:gd name="adj" fmla="val 9677"/>
            </a:avLst>
          </a:prstGeom>
          <a:solidFill>
            <a:srgbClr val="E3F1F2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98448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42416" y="11887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</a:t>
            </a: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자료 </a:t>
            </a:r>
            <a:r>
              <a:rPr lang="en-US" sz="14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요금은 장기 우상향(2021년 이후 급등) → 자가+상계에 유리 / SMP는 변동 극심 → 전량판매 리스크</a:t>
            </a:r>
            <a:endParaRPr lang="en-US" sz="1400" b="1" dirty="0"/>
          </a:p>
        </p:txBody>
      </p:sp>
      <p:sp>
        <p:nvSpPr>
          <p:cNvPr id="12" name="Shape 9"/>
          <p:cNvSpPr/>
          <p:nvPr/>
        </p:nvSpPr>
        <p:spPr>
          <a:xfrm>
            <a:off x="502920" y="1883664"/>
            <a:ext cx="372160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02920" y="1883664"/>
            <a:ext cx="3721608" cy="45720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85800" y="1883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산업용 저압 요금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154680" y="1993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3154680" y="1993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우상향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2377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판매단가 추이 (EPSIS)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110168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2006년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331720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62원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110168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2014년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331720" y="2944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107원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103612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2024년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331720" y="32369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106원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110168" y="35112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331720" y="35295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133원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68548" y="3855660"/>
            <a:ext cx="3355848" cy="219456"/>
          </a:xfrm>
          <a:prstGeom prst="round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/>
          <p:nvPr/>
        </p:nvSpPr>
        <p:spPr>
          <a:xfrm>
            <a:off x="686836" y="388153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2021~26 연 16.6%↑ · 자가소비 절감단가 상승</a:t>
            </a:r>
            <a:endParaRPr lang="en-US" sz="1000" b="1" dirty="0"/>
          </a:p>
        </p:txBody>
      </p:sp>
      <p:sp>
        <p:nvSpPr>
          <p:cNvPr id="28" name="Shape 25"/>
          <p:cNvSpPr/>
          <p:nvPr/>
        </p:nvSpPr>
        <p:spPr>
          <a:xfrm>
            <a:off x="4224528" y="1883664"/>
            <a:ext cx="372160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4224528" y="1883664"/>
            <a:ext cx="3721608" cy="457200"/>
          </a:xfrm>
          <a:prstGeom prst="rect">
            <a:avLst/>
          </a:prstGeom>
          <a:solidFill>
            <a:srgbClr val="D9871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4407408" y="1883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 (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계통한계가격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r>
              <a:rPr lang="ko-KR" alt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판매가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876288" y="1993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6876288" y="1993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B330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변동극심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407408" y="2377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가중평균 추이 (EPSIS)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825910" y="2651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2020.09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53328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~50원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835399" y="2935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2022.09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053328" y="2944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~340원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835399" y="32552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053328" y="32369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~120원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6835399" y="35295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b="1" dirty="0"/>
          </a:p>
        </p:txBody>
      </p:sp>
      <p:sp>
        <p:nvSpPr>
          <p:cNvPr id="41" name="Text 38"/>
          <p:cNvSpPr/>
          <p:nvPr/>
        </p:nvSpPr>
        <p:spPr>
          <a:xfrm>
            <a:off x="6053328" y="35295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r>
              <a:rPr lang="en-US" sz="12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115원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4407408" y="3872912"/>
            <a:ext cx="3355848" cy="219456"/>
          </a:xfrm>
          <a:prstGeom prst="round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4425696" y="3890164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최저 대비 최고 6.8배 · 예측 곤란</a:t>
            </a:r>
            <a:endParaRPr lang="en-US" sz="1000" b="1" dirty="0"/>
          </a:p>
        </p:txBody>
      </p:sp>
      <p:sp>
        <p:nvSpPr>
          <p:cNvPr id="44" name="Shape 41"/>
          <p:cNvSpPr/>
          <p:nvPr/>
        </p:nvSpPr>
        <p:spPr>
          <a:xfrm>
            <a:off x="7954356" y="1881539"/>
            <a:ext cx="3721608" cy="2231136"/>
          </a:xfrm>
          <a:prstGeom prst="roundRect">
            <a:avLst>
              <a:gd name="adj" fmla="val 2869"/>
            </a:avLst>
          </a:prstGeom>
          <a:solidFill>
            <a:srgbClr val="FFFFFF"/>
          </a:solidFill>
          <a:ln w="12700">
            <a:solidFill>
              <a:srgbClr val="D8E3E6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2"/>
          <p:cNvSpPr/>
          <p:nvPr/>
        </p:nvSpPr>
        <p:spPr>
          <a:xfrm>
            <a:off x="7946136" y="1883664"/>
            <a:ext cx="3721608" cy="457200"/>
          </a:xfrm>
          <a:prstGeom prst="rect">
            <a:avLst/>
          </a:prstGeom>
          <a:solidFill>
            <a:srgbClr val="5B4B8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3"/>
          <p:cNvSpPr/>
          <p:nvPr/>
        </p:nvSpPr>
        <p:spPr>
          <a:xfrm>
            <a:off x="8129016" y="188366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 (RE100 </a:t>
            </a:r>
            <a:r>
              <a:rPr lang="ko-KR" alt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인증서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50" dirty="0"/>
          </a:p>
        </p:txBody>
      </p:sp>
      <p:sp>
        <p:nvSpPr>
          <p:cNvPr id="47" name="Shape 44"/>
          <p:cNvSpPr/>
          <p:nvPr/>
        </p:nvSpPr>
        <p:spPr>
          <a:xfrm>
            <a:off x="10597896" y="1993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5"/>
          <p:cNvSpPr/>
          <p:nvPr/>
        </p:nvSpPr>
        <p:spPr>
          <a:xfrm>
            <a:off x="10597896" y="1993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8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정책변동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129016" y="23774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평균매도 (2026.06.19)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10506456" y="2660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최고가</a:t>
            </a:r>
            <a:endParaRPr lang="en-US" sz="950" dirty="0"/>
          </a:p>
        </p:txBody>
      </p:sp>
      <p:sp>
        <p:nvSpPr>
          <p:cNvPr id="51" name="Text 48"/>
          <p:cNvSpPr/>
          <p:nvPr/>
        </p:nvSpPr>
        <p:spPr>
          <a:xfrm>
            <a:off x="9774936" y="2651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91원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10504147" y="2944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평균가</a:t>
            </a:r>
            <a:endParaRPr lang="en-US" sz="1200" b="1" dirty="0"/>
          </a:p>
        </p:txBody>
      </p:sp>
      <p:sp>
        <p:nvSpPr>
          <p:cNvPr id="53" name="Text 50"/>
          <p:cNvSpPr/>
          <p:nvPr/>
        </p:nvSpPr>
        <p:spPr>
          <a:xfrm>
            <a:off x="9774936" y="29443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74원</a:t>
            </a:r>
            <a:endParaRPr lang="en-US" sz="1200" dirty="0"/>
          </a:p>
        </p:txBody>
      </p:sp>
      <p:sp>
        <p:nvSpPr>
          <p:cNvPr id="54" name="Text 51"/>
          <p:cNvSpPr/>
          <p:nvPr/>
        </p:nvSpPr>
        <p:spPr>
          <a:xfrm>
            <a:off x="10504147" y="3258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최저가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9774936" y="323697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53원</a:t>
            </a:r>
            <a:endParaRPr lang="en-US" sz="1050" dirty="0"/>
          </a:p>
        </p:txBody>
      </p:sp>
      <p:sp>
        <p:nvSpPr>
          <p:cNvPr id="56" name="Text 53"/>
          <p:cNvSpPr/>
          <p:nvPr/>
        </p:nvSpPr>
        <p:spPr>
          <a:xfrm>
            <a:off x="10504147" y="3547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9774936" y="353937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1.2</a:t>
            </a:r>
            <a:endParaRPr lang="en-US" sz="1050" dirty="0"/>
          </a:p>
        </p:txBody>
      </p:sp>
      <p:sp>
        <p:nvSpPr>
          <p:cNvPr id="58" name="Shape 55"/>
          <p:cNvSpPr/>
          <p:nvPr/>
        </p:nvSpPr>
        <p:spPr>
          <a:xfrm>
            <a:off x="8129016" y="3881538"/>
            <a:ext cx="3355848" cy="219456"/>
          </a:xfrm>
          <a:prstGeom prst="roundRect">
            <a:avLst/>
          </a:prstGeom>
          <a:solidFill>
            <a:srgbClr val="F4F8F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/>
          <p:nvPr/>
        </p:nvSpPr>
        <p:spPr>
          <a:xfrm>
            <a:off x="8147304" y="3912708"/>
            <a:ext cx="3337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1.5→1.2 하향 전례 · 정책 리스크</a:t>
            </a:r>
            <a:endParaRPr lang="en-US" sz="1000" b="1" dirty="0"/>
          </a:p>
        </p:txBody>
      </p:sp>
      <p:sp>
        <p:nvSpPr>
          <p:cNvPr id="60" name="Text 57"/>
          <p:cNvSpPr/>
          <p:nvPr/>
        </p:nvSpPr>
        <p:spPr>
          <a:xfrm>
            <a:off x="502920" y="426110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전기요금 상승률 반영 — 20년 누적 순현금 (120kW)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502920" y="4590288"/>
            <a:ext cx="7223760" cy="347472"/>
          </a:xfrm>
          <a:prstGeom prst="rect">
            <a:avLst/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/>
          <p:nvPr/>
        </p:nvSpPr>
        <p:spPr>
          <a:xfrm>
            <a:off x="594360" y="459028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요금 상승률 가정</a:t>
            </a:r>
            <a:endParaRPr lang="en-US" sz="850" dirty="0"/>
          </a:p>
        </p:txBody>
      </p:sp>
      <p:sp>
        <p:nvSpPr>
          <p:cNvPr id="63" name="Text 60"/>
          <p:cNvSpPr/>
          <p:nvPr/>
        </p:nvSpPr>
        <p:spPr>
          <a:xfrm>
            <a:off x="3520440" y="4590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안2 (120 자가+상계)</a:t>
            </a:r>
            <a:endParaRPr lang="en-US" sz="850" dirty="0"/>
          </a:p>
        </p:txBody>
      </p:sp>
      <p:sp>
        <p:nvSpPr>
          <p:cNvPr id="64" name="Text 61"/>
          <p:cNvSpPr/>
          <p:nvPr/>
        </p:nvSpPr>
        <p:spPr>
          <a:xfrm>
            <a:off x="5623560" y="45902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안4 (120 전량판매)</a:t>
            </a:r>
            <a:endParaRPr lang="en-US" sz="850" dirty="0"/>
          </a:p>
        </p:txBody>
      </p:sp>
      <p:sp>
        <p:nvSpPr>
          <p:cNvPr id="65" name="Shape 62"/>
          <p:cNvSpPr/>
          <p:nvPr/>
        </p:nvSpPr>
        <p:spPr>
          <a:xfrm>
            <a:off x="502920" y="4937760"/>
            <a:ext cx="7223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/>
          <p:nvPr/>
        </p:nvSpPr>
        <p:spPr>
          <a:xfrm>
            <a:off x="594360" y="49377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단가 동결 (0%/년)</a:t>
            </a:r>
            <a:endParaRPr lang="en-US" sz="880" dirty="0"/>
          </a:p>
        </p:txBody>
      </p:sp>
      <p:sp>
        <p:nvSpPr>
          <p:cNvPr id="67" name="Text 64"/>
          <p:cNvSpPr/>
          <p:nvPr/>
        </p:nvSpPr>
        <p:spPr>
          <a:xfrm>
            <a:off x="3520440" y="4937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2.71억</a:t>
            </a:r>
            <a:endParaRPr lang="en-US" sz="950" dirty="0"/>
          </a:p>
        </p:txBody>
      </p:sp>
      <p:sp>
        <p:nvSpPr>
          <p:cNvPr id="68" name="Text 65"/>
          <p:cNvSpPr/>
          <p:nvPr/>
        </p:nvSpPr>
        <p:spPr>
          <a:xfrm>
            <a:off x="5623560" y="49377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4.08억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502920" y="5266944"/>
            <a:ext cx="7223760" cy="329184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/>
          <p:nvPr/>
        </p:nvSpPr>
        <p:spPr>
          <a:xfrm>
            <a:off x="594360" y="52669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 (2%/년)</a:t>
            </a:r>
            <a:endParaRPr lang="en-US" sz="880" dirty="0"/>
          </a:p>
        </p:txBody>
      </p:sp>
      <p:sp>
        <p:nvSpPr>
          <p:cNvPr id="71" name="Text 68"/>
          <p:cNvSpPr/>
          <p:nvPr/>
        </p:nvSpPr>
        <p:spPr>
          <a:xfrm>
            <a:off x="3520440" y="5266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3.51억</a:t>
            </a:r>
            <a:endParaRPr lang="en-US" sz="950" dirty="0"/>
          </a:p>
        </p:txBody>
      </p:sp>
      <p:sp>
        <p:nvSpPr>
          <p:cNvPr id="72" name="Text 69"/>
          <p:cNvSpPr/>
          <p:nvPr/>
        </p:nvSpPr>
        <p:spPr>
          <a:xfrm>
            <a:off x="5623560" y="5266944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5.37억</a:t>
            </a:r>
            <a:endParaRPr lang="en-US" sz="950" dirty="0"/>
          </a:p>
        </p:txBody>
      </p:sp>
      <p:sp>
        <p:nvSpPr>
          <p:cNvPr id="73" name="Shape 70"/>
          <p:cNvSpPr/>
          <p:nvPr/>
        </p:nvSpPr>
        <p:spPr>
          <a:xfrm>
            <a:off x="502920" y="5596128"/>
            <a:ext cx="72237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71"/>
          <p:cNvSpPr/>
          <p:nvPr/>
        </p:nvSpPr>
        <p:spPr>
          <a:xfrm>
            <a:off x="594360" y="55961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중립 (3.5%/년)</a:t>
            </a:r>
            <a:endParaRPr lang="en-US" sz="880" dirty="0"/>
          </a:p>
        </p:txBody>
      </p:sp>
      <p:sp>
        <p:nvSpPr>
          <p:cNvPr id="75" name="Text 72"/>
          <p:cNvSpPr/>
          <p:nvPr/>
        </p:nvSpPr>
        <p:spPr>
          <a:xfrm>
            <a:off x="3520440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4.24억</a:t>
            </a:r>
            <a:endParaRPr lang="en-US" sz="950" dirty="0"/>
          </a:p>
        </p:txBody>
      </p:sp>
      <p:sp>
        <p:nvSpPr>
          <p:cNvPr id="76" name="Text 73"/>
          <p:cNvSpPr/>
          <p:nvPr/>
        </p:nvSpPr>
        <p:spPr>
          <a:xfrm>
            <a:off x="5623560" y="559612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6.57억</a:t>
            </a:r>
            <a:endParaRPr lang="en-US" sz="950" dirty="0"/>
          </a:p>
        </p:txBody>
      </p:sp>
      <p:sp>
        <p:nvSpPr>
          <p:cNvPr id="77" name="Shape 74"/>
          <p:cNvSpPr/>
          <p:nvPr/>
        </p:nvSpPr>
        <p:spPr>
          <a:xfrm>
            <a:off x="502920" y="5925312"/>
            <a:ext cx="7223760" cy="329184"/>
          </a:xfrm>
          <a:prstGeom prst="rect">
            <a:avLst/>
          </a:prstGeom>
          <a:solidFill>
            <a:srgbClr val="EDF4F5"/>
          </a:solidFill>
          <a:ln w="6350">
            <a:solidFill>
              <a:srgbClr val="D8E3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/>
          <p:nvPr/>
        </p:nvSpPr>
        <p:spPr>
          <a:xfrm>
            <a:off x="594360" y="592531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F2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최근추세 (요금5%·SMP3%)</a:t>
            </a:r>
            <a:endParaRPr lang="en-US" sz="880" dirty="0"/>
          </a:p>
        </p:txBody>
      </p:sp>
      <p:sp>
        <p:nvSpPr>
          <p:cNvPr id="79" name="Text 76"/>
          <p:cNvSpPr/>
          <p:nvPr/>
        </p:nvSpPr>
        <p:spPr>
          <a:xfrm>
            <a:off x="3520440" y="5925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5.13억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5623560" y="5925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4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6.14억</a:t>
            </a:r>
            <a:endParaRPr lang="en-US" sz="950" dirty="0"/>
          </a:p>
        </p:txBody>
      </p:sp>
      <p:sp>
        <p:nvSpPr>
          <p:cNvPr id="81" name="Text 78"/>
          <p:cNvSpPr/>
          <p:nvPr/>
        </p:nvSpPr>
        <p:spPr>
          <a:xfrm>
            <a:off x="502920" y="6462559"/>
            <a:ext cx="9184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자가+상계는 요금 상승분이 절감액에 직접 반영(헤지) · 전량판매 SMP는 상승 가정해도 REC 정책변동 리스크 상존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82" name="Shape 79"/>
          <p:cNvSpPr/>
          <p:nvPr/>
        </p:nvSpPr>
        <p:spPr>
          <a:xfrm>
            <a:off x="7909560" y="4590288"/>
            <a:ext cx="4206240" cy="1755648"/>
          </a:xfrm>
          <a:prstGeom prst="roundRect">
            <a:avLst>
              <a:gd name="adj" fmla="val 3646"/>
            </a:avLst>
          </a:prstGeom>
          <a:solidFill>
            <a:srgbClr val="0F2E3D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4736592"/>
            <a:ext cx="256032" cy="256032"/>
          </a:xfrm>
          <a:prstGeom prst="rect">
            <a:avLst/>
          </a:prstGeom>
        </p:spPr>
      </p:pic>
      <p:sp>
        <p:nvSpPr>
          <p:cNvPr id="84" name="Text 80"/>
          <p:cNvSpPr/>
          <p:nvPr/>
        </p:nvSpPr>
        <p:spPr>
          <a:xfrm>
            <a:off x="8458200" y="470001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추이 </a:t>
            </a:r>
            <a:r>
              <a:rPr lang="en-US" sz="1400" b="1" dirty="0" err="1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r>
              <a:rPr lang="en-US" sz="1400" b="1" dirty="0">
                <a:solidFill>
                  <a:srgbClr val="F0C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</p:txBody>
      </p:sp>
      <p:sp>
        <p:nvSpPr>
          <p:cNvPr id="85" name="Text 81"/>
          <p:cNvSpPr/>
          <p:nvPr/>
        </p:nvSpPr>
        <p:spPr>
          <a:xfrm>
            <a:off x="8092440" y="5202756"/>
            <a:ext cx="3840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산업용 요금 우상향 → 자가+상계 절감액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매년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증가</a:t>
            </a:r>
            <a:endParaRPr lang="en-US" sz="12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(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실측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2021~26 연 16.6%↑)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SMP 변동성 극심 → 전량판매는 20년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불확실</a:t>
            </a:r>
            <a:endParaRPr lang="en-US" sz="1200" dirty="0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9B3B3EB6-CB00-EBFA-C0C3-7519E6B6D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596896"/>
            <a:ext cx="1995335" cy="1277303"/>
          </a:xfrm>
          <a:prstGeom prst="rect">
            <a:avLst/>
          </a:prstGeom>
        </p:spPr>
      </p:pic>
      <p:pic>
        <p:nvPicPr>
          <p:cNvPr id="89" name="그림 88">
            <a:extLst>
              <a:ext uri="{FF2B5EF4-FFF2-40B4-BE49-F238E27FC236}">
                <a16:creationId xmlns:a16="http://schemas.microsoft.com/office/drawing/2014/main" id="{9319CDAA-3F49-DC95-664E-8D7BF6130F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4320" y="2554289"/>
            <a:ext cx="2290974" cy="1205103"/>
          </a:xfrm>
          <a:prstGeom prst="rect">
            <a:avLst/>
          </a:prstGeom>
        </p:spPr>
      </p:pic>
      <p:pic>
        <p:nvPicPr>
          <p:cNvPr id="91" name="그림 90">
            <a:extLst>
              <a:ext uri="{FF2B5EF4-FFF2-40B4-BE49-F238E27FC236}">
                <a16:creationId xmlns:a16="http://schemas.microsoft.com/office/drawing/2014/main" id="{6F529196-DAC7-4E34-CE8C-F6D450006D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404" y="2637954"/>
            <a:ext cx="2284631" cy="1193864"/>
          </a:xfrm>
          <a:prstGeom prst="rect">
            <a:avLst/>
          </a:prstGeom>
        </p:spPr>
      </p:pic>
      <p:sp>
        <p:nvSpPr>
          <p:cNvPr id="93" name="직사각형 92">
            <a:extLst>
              <a:ext uri="{FF2B5EF4-FFF2-40B4-BE49-F238E27FC236}">
                <a16:creationId xmlns:a16="http://schemas.microsoft.com/office/drawing/2014/main" id="{D7D8929B-CDFD-06F0-2CCB-8684AB647275}"/>
              </a:ext>
            </a:extLst>
          </p:cNvPr>
          <p:cNvSpPr/>
          <p:nvPr/>
        </p:nvSpPr>
        <p:spPr>
          <a:xfrm>
            <a:off x="6784848" y="3549426"/>
            <a:ext cx="987552" cy="265694"/>
          </a:xfrm>
          <a:prstGeom prst="rect">
            <a:avLst/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F56D53C8-B23B-96BC-5027-1323D42BCA35}"/>
              </a:ext>
            </a:extLst>
          </p:cNvPr>
          <p:cNvSpPr/>
          <p:nvPr/>
        </p:nvSpPr>
        <p:spPr>
          <a:xfrm>
            <a:off x="3081528" y="3529066"/>
            <a:ext cx="987552" cy="265694"/>
          </a:xfrm>
          <a:prstGeom prst="rect">
            <a:avLst/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F68B7824-42E4-20AF-B6D8-5D15BFA191BA}"/>
              </a:ext>
            </a:extLst>
          </p:cNvPr>
          <p:cNvSpPr/>
          <p:nvPr/>
        </p:nvSpPr>
        <p:spPr>
          <a:xfrm>
            <a:off x="10479023" y="2947618"/>
            <a:ext cx="1097625" cy="265694"/>
          </a:xfrm>
          <a:prstGeom prst="rect">
            <a:avLst/>
          </a:prstGeom>
          <a:solidFill>
            <a:srgbClr val="FF0000">
              <a:alpha val="0"/>
            </a:srgbClr>
          </a:solidFill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1089</Words>
  <Application>Microsoft Office PowerPoint</Application>
  <PresentationFormat>와이드스크린</PresentationFormat>
  <Paragraphs>267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태양광 4개 시나리오 비교 (실측 SMP·REC)</dc:title>
  <dc:subject>PptxGenJS Presentation</dc:subject>
  <dc:creator>Kynopp</dc:creator>
  <cp:lastModifiedBy>기태 김</cp:lastModifiedBy>
  <cp:revision>2</cp:revision>
  <dcterms:created xsi:type="dcterms:W3CDTF">2026-07-27T02:34:55Z</dcterms:created>
  <dcterms:modified xsi:type="dcterms:W3CDTF">2026-07-27T03:30:20Z</dcterms:modified>
</cp:coreProperties>
</file>